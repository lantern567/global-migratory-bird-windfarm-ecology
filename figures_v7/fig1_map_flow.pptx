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3350" cy="5927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23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17525773195876287"/>
          <c:y val="0.1"/>
          <c:w val="0.82474226804123707"/>
          <c:h val="0.73333333333333328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VPTS</c:v>
                </c:pt>
              </c:strCache>
            </c:strRef>
          </c:tx>
          <c:spPr>
            <a:ln w="16510" cap="rnd">
              <a:solidFill>
                <a:srgbClr val="009E7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</c:numCache>
            </c:num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11.3</c:v>
                </c:pt>
                <c:pt idx="2">
                  <c:v>22.7</c:v>
                </c:pt>
                <c:pt idx="3">
                  <c:v>34</c:v>
                </c:pt>
                <c:pt idx="4">
                  <c:v>44.1</c:v>
                </c:pt>
                <c:pt idx="5">
                  <c:v>53.6</c:v>
                </c:pt>
                <c:pt idx="6">
                  <c:v>63.1</c:v>
                </c:pt>
                <c:pt idx="7">
                  <c:v>71.599999999999994</c:v>
                </c:pt>
                <c:pt idx="8">
                  <c:v>78.099999999999994</c:v>
                </c:pt>
                <c:pt idx="9">
                  <c:v>75.400000000000006</c:v>
                </c:pt>
                <c:pt idx="10">
                  <c:v>82.2</c:v>
                </c:pt>
                <c:pt idx="11">
                  <c:v>82.7</c:v>
                </c:pt>
                <c:pt idx="12">
                  <c:v>87.4</c:v>
                </c:pt>
                <c:pt idx="13">
                  <c:v>84.3</c:v>
                </c:pt>
                <c:pt idx="14">
                  <c:v>76.8</c:v>
                </c:pt>
                <c:pt idx="15">
                  <c:v>75.5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AA-4DFB-8453-389D7189C676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Bauer</c:v>
                </c:pt>
              </c:strCache>
            </c:strRef>
          </c:tx>
          <c:spPr>
            <a:ln w="16510" cap="rnd">
              <a:solidFill>
                <a:srgbClr val="CC79A7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</c:numCache>
            </c:num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0</c:v>
                </c:pt>
                <c:pt idx="1">
                  <c:v>9.1999999999999993</c:v>
                </c:pt>
                <c:pt idx="2">
                  <c:v>18.3</c:v>
                </c:pt>
                <c:pt idx="3">
                  <c:v>27.5</c:v>
                </c:pt>
                <c:pt idx="4">
                  <c:v>34.4</c:v>
                </c:pt>
                <c:pt idx="5">
                  <c:v>42.7</c:v>
                </c:pt>
                <c:pt idx="6">
                  <c:v>50.9</c:v>
                </c:pt>
                <c:pt idx="7">
                  <c:v>56.1</c:v>
                </c:pt>
                <c:pt idx="8">
                  <c:v>62.9</c:v>
                </c:pt>
                <c:pt idx="9">
                  <c:v>68.7</c:v>
                </c:pt>
                <c:pt idx="10">
                  <c:v>75.5</c:v>
                </c:pt>
                <c:pt idx="11">
                  <c:v>80.400000000000006</c:v>
                </c:pt>
                <c:pt idx="12">
                  <c:v>83.6</c:v>
                </c:pt>
                <c:pt idx="13">
                  <c:v>84.3</c:v>
                </c:pt>
                <c:pt idx="14">
                  <c:v>76.099999999999994</c:v>
                </c:pt>
                <c:pt idx="15">
                  <c:v>80.599999999999994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AA-4DFB-8453-389D7189C676}"/>
            </c:ext>
          </c:extLst>
        </c:ser>
        <c:ser>
          <c:idx val="0"/>
          <c:order val="2"/>
          <c:tx>
            <c:strRef>
              <c:f>Sheet1!$B$1</c:f>
              <c:strCache>
                <c:ptCount val="1"/>
                <c:pt idx="0">
                  <c:v>Onshore</c:v>
                </c:pt>
              </c:strCache>
            </c:strRef>
          </c:tx>
          <c:spPr>
            <a:ln w="16510" cap="rnd">
              <a:solidFill>
                <a:srgbClr val="0072B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33</c:v>
                </c:pt>
                <c:pt idx="12">
                  <c:v>36</c:v>
                </c:pt>
                <c:pt idx="13">
                  <c:v>39</c:v>
                </c:pt>
                <c:pt idx="14">
                  <c:v>42</c:v>
                </c:pt>
                <c:pt idx="15">
                  <c:v>45</c:v>
                </c:pt>
              </c:numCache>
            </c:num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9.1999999999999993</c:v>
                </c:pt>
                <c:pt idx="2">
                  <c:v>18.3</c:v>
                </c:pt>
                <c:pt idx="3">
                  <c:v>27.1</c:v>
                </c:pt>
                <c:pt idx="4">
                  <c:v>35.5</c:v>
                </c:pt>
                <c:pt idx="5">
                  <c:v>43.1</c:v>
                </c:pt>
                <c:pt idx="6">
                  <c:v>50.5</c:v>
                </c:pt>
                <c:pt idx="7">
                  <c:v>57</c:v>
                </c:pt>
                <c:pt idx="8">
                  <c:v>63</c:v>
                </c:pt>
                <c:pt idx="9">
                  <c:v>68.900000000000006</c:v>
                </c:pt>
                <c:pt idx="10">
                  <c:v>73</c:v>
                </c:pt>
                <c:pt idx="11">
                  <c:v>77.099999999999994</c:v>
                </c:pt>
                <c:pt idx="12">
                  <c:v>81.099999999999994</c:v>
                </c:pt>
                <c:pt idx="13">
                  <c:v>84.2</c:v>
                </c:pt>
                <c:pt idx="14">
                  <c:v>86.4</c:v>
                </c:pt>
                <c:pt idx="15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AA-4DFB-8453-389D7189C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19826623"/>
        <c:axId val="1173758031"/>
      </c:lineChart>
      <c:catAx>
        <c:axId val="17198266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rotation </a:t>
                </a:r>
                <a:r>
                  <a:rPr lang="el-GR"/>
                  <a:t>Δθ (°)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 cap="flat" cmpd="sng" algn="ctr">
            <a:solidFill>
              <a:srgbClr val="88888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173758031"/>
        <c:crosses val="autoZero"/>
        <c:auto val="1"/>
        <c:lblAlgn val="ctr"/>
        <c:lblOffset val="100"/>
        <c:tickLblSkip val="5"/>
        <c:noMultiLvlLbl val="0"/>
      </c:catAx>
      <c:valAx>
        <c:axId val="1173758031"/>
        <c:scaling>
          <c:orientation val="minMax"/>
          <c:max val="100"/>
          <c:min val="0"/>
        </c:scaling>
        <c:delete val="0"/>
        <c:axPos val="l"/>
        <c:majorGridlines>
          <c:spPr>
            <a:ln w="5080" cap="flat" cmpd="sng" algn="ctr">
              <a:solidFill>
                <a:srgbClr val="D8D8D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% of gain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>
            <a:solidFill>
              <a:srgbClr val="888888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719826623"/>
        <c:crosses val="autoZero"/>
        <c:crossBetween val="midCat"/>
        <c:majorUnit val="50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600">
          <a:latin typeface="Arial"/>
          <a:ea typeface="Arial"/>
          <a:cs typeface="Arial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0.17525773195876287"/>
          <c:y val="0.1"/>
          <c:w val="0.82474226804123707"/>
          <c:h val="0.733333333333333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Onshore</c:v>
                </c:pt>
              </c:strCache>
            </c:strRef>
          </c:tx>
          <c:spPr>
            <a:solidFill>
              <a:srgbClr val="0072B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80.03</c:v>
                </c:pt>
                <c:pt idx="1">
                  <c:v>96.94</c:v>
                </c:pt>
                <c:pt idx="2">
                  <c:v>99.07</c:v>
                </c:pt>
                <c:pt idx="3">
                  <c:v>99.26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A-4FB9-9695-FDA8FA4DD1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VPTS</c:v>
                </c:pt>
              </c:strCache>
            </c:strRef>
          </c:tx>
          <c:spPr>
            <a:solidFill>
              <a:srgbClr val="009E7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77.25</c:v>
                </c:pt>
                <c:pt idx="1">
                  <c:v>84.24</c:v>
                </c:pt>
                <c:pt idx="2">
                  <c:v>84.24</c:v>
                </c:pt>
                <c:pt idx="3">
                  <c:v>84.46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A-4FB9-9695-FDA8FA4DD1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Bauer</c:v>
                </c:pt>
              </c:strCache>
            </c:strRef>
          </c:tx>
          <c:spPr>
            <a:solidFill>
              <a:srgbClr val="CC79A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37.729999999999997</c:v>
                </c:pt>
                <c:pt idx="1">
                  <c:v>47.62</c:v>
                </c:pt>
                <c:pt idx="2">
                  <c:v>70.56</c:v>
                </c:pt>
                <c:pt idx="3">
                  <c:v>89.28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BA-4FB9-9695-FDA8FA4DD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8"/>
        <c:axId val="1719806175"/>
        <c:axId val="1173717711"/>
      </c:barChart>
      <c:catAx>
        <c:axId val="1719806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AEP budget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 cap="flat" cmpd="sng" algn="ctr">
            <a:solidFill>
              <a:srgbClr val="88888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173717711"/>
        <c:crosses val="autoZero"/>
        <c:auto val="1"/>
        <c:lblAlgn val="ctr"/>
        <c:lblOffset val="100"/>
        <c:noMultiLvlLbl val="0"/>
      </c:catAx>
      <c:valAx>
        <c:axId val="1173717711"/>
        <c:scaling>
          <c:orientation val="minMax"/>
          <c:max val="100"/>
          <c:min val="0"/>
        </c:scaling>
        <c:delete val="0"/>
        <c:axPos val="l"/>
        <c:majorGridlines>
          <c:spPr>
            <a:ln w="5080" cap="flat" cmpd="sng" algn="ctr">
              <a:solidFill>
                <a:srgbClr val="D8D8D8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cut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defRPr>
              </a:pPr>
              <a:endParaRPr lang="zh-CN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6350">
            <a:solidFill>
              <a:srgbClr val="888888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1719806175"/>
        <c:crosses val="autoZero"/>
        <c:crossBetween val="between"/>
        <c:majorUnit val="50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600">
          <a:latin typeface="Arial"/>
          <a:ea typeface="Arial"/>
          <a:cs typeface="Arial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F10FE-741F-B891-768C-42A470E74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420" y="970117"/>
            <a:ext cx="4862513" cy="2063726"/>
          </a:xfrm>
        </p:spPr>
        <p:txBody>
          <a:bodyPr anchor="b"/>
          <a:lstStyle>
            <a:lvl1pPr algn="ctr">
              <a:defRPr sz="275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14C172-0AEA-72EA-1063-1E7E1E874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420" y="3113428"/>
            <a:ext cx="4862513" cy="1431161"/>
          </a:xfrm>
        </p:spPr>
        <p:txBody>
          <a:bodyPr/>
          <a:lstStyle>
            <a:lvl1pPr marL="0" indent="0" algn="ctr">
              <a:buNone/>
              <a:defRPr sz="1103"/>
            </a:lvl1pPr>
            <a:lvl2pPr marL="210169" indent="0" algn="ctr">
              <a:buNone/>
              <a:defRPr sz="920"/>
            </a:lvl2pPr>
            <a:lvl3pPr marL="420339" indent="0" algn="ctr">
              <a:buNone/>
              <a:defRPr sz="827"/>
            </a:lvl3pPr>
            <a:lvl4pPr marL="630508" indent="0" algn="ctr">
              <a:buNone/>
              <a:defRPr sz="736"/>
            </a:lvl4pPr>
            <a:lvl5pPr marL="840677" indent="0" algn="ctr">
              <a:buNone/>
              <a:defRPr sz="736"/>
            </a:lvl5pPr>
            <a:lvl6pPr marL="1050847" indent="0" algn="ctr">
              <a:buNone/>
              <a:defRPr sz="736"/>
            </a:lvl6pPr>
            <a:lvl7pPr marL="1261016" indent="0" algn="ctr">
              <a:buNone/>
              <a:defRPr sz="736"/>
            </a:lvl7pPr>
            <a:lvl8pPr marL="1471185" indent="0" algn="ctr">
              <a:buNone/>
              <a:defRPr sz="736"/>
            </a:lvl8pPr>
            <a:lvl9pPr marL="1681355" indent="0" algn="ctr">
              <a:buNone/>
              <a:defRPr sz="73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7EC835-1BF8-A0DE-2357-0A51C18A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C2C08-F25D-9456-2CDF-C99BAA91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B1F34-DD72-E1CE-4309-951410EA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0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379FD-A90E-3C19-D670-0B019B4B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903FD-6521-B38F-C003-46FCC1957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D72DCD-6D92-C30E-380A-CAB989CB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3204E-4165-1CA9-0D9B-8AAA689C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F55C8-6133-7617-2DE0-BE6B1982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29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749FE-07B7-89CE-5DDF-0153508E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355" y="1477816"/>
            <a:ext cx="5591889" cy="2465769"/>
          </a:xfrm>
        </p:spPr>
        <p:txBody>
          <a:bodyPr anchor="b"/>
          <a:lstStyle>
            <a:lvl1pPr>
              <a:defRPr sz="275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DDCB73-8E0F-EB7D-D22F-23F319EB0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355" y="3966912"/>
            <a:ext cx="5591889" cy="1296689"/>
          </a:xfrm>
        </p:spPr>
        <p:txBody>
          <a:bodyPr/>
          <a:lstStyle>
            <a:lvl1pPr marL="0" indent="0">
              <a:buNone/>
              <a:defRPr sz="1103">
                <a:solidFill>
                  <a:schemeClr val="tx1">
                    <a:tint val="82000"/>
                  </a:schemeClr>
                </a:solidFill>
              </a:defRPr>
            </a:lvl1pPr>
            <a:lvl2pPr marL="210169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2pPr>
            <a:lvl3pPr marL="420339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3pPr>
            <a:lvl4pPr marL="630508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4pPr>
            <a:lvl5pPr marL="840677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5pPr>
            <a:lvl6pPr marL="1050847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6pPr>
            <a:lvl7pPr marL="1261016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7pPr>
            <a:lvl8pPr marL="1471185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8pPr>
            <a:lvl9pPr marL="1681355" indent="0">
              <a:buNone/>
              <a:defRPr sz="7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3C2869-9B95-811D-D940-BD151907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E3BC8-A6DA-87CD-E103-F8B9FBA4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BAFC2-4CF7-C5B8-EB3F-9C2A888A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43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0FC78-9665-B663-65A0-A4F4E039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D5103-5034-8035-1FB7-57A4924CB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730" y="1577982"/>
            <a:ext cx="2755424" cy="3761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4EDBCC-FD3C-C122-EC8F-4A4B4CCA8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2196" y="1577982"/>
            <a:ext cx="2755424" cy="3761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879634-B1F2-D547-D3ED-238D5702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50978A-0D80-D95C-71DD-12C72B57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19CB3F-5749-8C49-166F-50B8E92D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01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06521-A40D-75F4-9355-1263B466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76" y="315598"/>
            <a:ext cx="5591889" cy="11457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67A787-50BC-90FA-2314-D98E155D3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576" y="1453116"/>
            <a:ext cx="2742761" cy="712150"/>
          </a:xfrm>
        </p:spPr>
        <p:txBody>
          <a:bodyPr anchor="b"/>
          <a:lstStyle>
            <a:lvl1pPr marL="0" indent="0">
              <a:buNone/>
              <a:defRPr sz="1103" b="1"/>
            </a:lvl1pPr>
            <a:lvl2pPr marL="210169" indent="0">
              <a:buNone/>
              <a:defRPr sz="920" b="1"/>
            </a:lvl2pPr>
            <a:lvl3pPr marL="420339" indent="0">
              <a:buNone/>
              <a:defRPr sz="827" b="1"/>
            </a:lvl3pPr>
            <a:lvl4pPr marL="630508" indent="0">
              <a:buNone/>
              <a:defRPr sz="736" b="1"/>
            </a:lvl4pPr>
            <a:lvl5pPr marL="840677" indent="0">
              <a:buNone/>
              <a:defRPr sz="736" b="1"/>
            </a:lvl5pPr>
            <a:lvl6pPr marL="1050847" indent="0">
              <a:buNone/>
              <a:defRPr sz="736" b="1"/>
            </a:lvl6pPr>
            <a:lvl7pPr marL="1261016" indent="0">
              <a:buNone/>
              <a:defRPr sz="736" b="1"/>
            </a:lvl7pPr>
            <a:lvl8pPr marL="1471185" indent="0">
              <a:buNone/>
              <a:defRPr sz="736" b="1"/>
            </a:lvl8pPr>
            <a:lvl9pPr marL="1681355" indent="0">
              <a:buNone/>
              <a:defRPr sz="7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D3E1FC-9A03-9DF5-7733-A9FF27744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576" y="2165266"/>
            <a:ext cx="2742761" cy="3184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9AF68A-D8E0-08FC-AD50-00A0A5A84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2196" y="1453116"/>
            <a:ext cx="2756268" cy="712150"/>
          </a:xfrm>
        </p:spPr>
        <p:txBody>
          <a:bodyPr anchor="b"/>
          <a:lstStyle>
            <a:lvl1pPr marL="0" indent="0">
              <a:buNone/>
              <a:defRPr sz="1103" b="1"/>
            </a:lvl1pPr>
            <a:lvl2pPr marL="210169" indent="0">
              <a:buNone/>
              <a:defRPr sz="920" b="1"/>
            </a:lvl2pPr>
            <a:lvl3pPr marL="420339" indent="0">
              <a:buNone/>
              <a:defRPr sz="827" b="1"/>
            </a:lvl3pPr>
            <a:lvl4pPr marL="630508" indent="0">
              <a:buNone/>
              <a:defRPr sz="736" b="1"/>
            </a:lvl4pPr>
            <a:lvl5pPr marL="840677" indent="0">
              <a:buNone/>
              <a:defRPr sz="736" b="1"/>
            </a:lvl5pPr>
            <a:lvl6pPr marL="1050847" indent="0">
              <a:buNone/>
              <a:defRPr sz="736" b="1"/>
            </a:lvl6pPr>
            <a:lvl7pPr marL="1261016" indent="0">
              <a:buNone/>
              <a:defRPr sz="736" b="1"/>
            </a:lvl7pPr>
            <a:lvl8pPr marL="1471185" indent="0">
              <a:buNone/>
              <a:defRPr sz="736" b="1"/>
            </a:lvl8pPr>
            <a:lvl9pPr marL="1681355" indent="0">
              <a:buNone/>
              <a:defRPr sz="7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F62FD9-F226-CD6E-4709-9DE35770C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2196" y="2165266"/>
            <a:ext cx="2756268" cy="3184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283A2E-9976-E907-DB21-BE8B911A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F327DD-72D8-B3A5-D2CA-B31698C2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D2C9AF-2FB6-4577-31F0-651D897E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86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E41E2-AA2C-0996-E9C8-7096EA3E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8EAC40-97B0-0632-0522-90207E78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9C44CC-E191-183D-3B16-01F1F3DB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8B5809-CB14-AB5E-A4DB-DE3495EF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3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A455D2-1BEC-2D97-6E1E-BFA433D1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4CBF1B-7FF6-1C36-A87D-303A70BB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96EB5-09A2-74D9-AE64-54FED758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2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ADCB2-7731-D821-A4E2-6F7B11DE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76" y="395182"/>
            <a:ext cx="2091049" cy="1383136"/>
          </a:xfrm>
        </p:spPr>
        <p:txBody>
          <a:bodyPr anchor="b"/>
          <a:lstStyle>
            <a:lvl1pPr>
              <a:defRPr sz="147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5E6D7-0F6D-28D8-D633-D691ABF4C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6268" y="853484"/>
            <a:ext cx="3282196" cy="4212527"/>
          </a:xfrm>
        </p:spPr>
        <p:txBody>
          <a:bodyPr/>
          <a:lstStyle>
            <a:lvl1pPr>
              <a:defRPr sz="1471"/>
            </a:lvl1pPr>
            <a:lvl2pPr>
              <a:defRPr sz="1287"/>
            </a:lvl2pPr>
            <a:lvl3pPr>
              <a:defRPr sz="1103"/>
            </a:lvl3pPr>
            <a:lvl4pPr>
              <a:defRPr sz="920"/>
            </a:lvl4pPr>
            <a:lvl5pPr>
              <a:defRPr sz="920"/>
            </a:lvl5pPr>
            <a:lvl6pPr>
              <a:defRPr sz="920"/>
            </a:lvl6pPr>
            <a:lvl7pPr>
              <a:defRPr sz="920"/>
            </a:lvl7pPr>
            <a:lvl8pPr>
              <a:defRPr sz="920"/>
            </a:lvl8pPr>
            <a:lvl9pPr>
              <a:defRPr sz="9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3E87E9-0C42-C5A5-692B-051814341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576" y="1778318"/>
            <a:ext cx="2091049" cy="3294553"/>
          </a:xfrm>
        </p:spPr>
        <p:txBody>
          <a:bodyPr/>
          <a:lstStyle>
            <a:lvl1pPr marL="0" indent="0">
              <a:buNone/>
              <a:defRPr sz="736"/>
            </a:lvl1pPr>
            <a:lvl2pPr marL="210169" indent="0">
              <a:buNone/>
              <a:defRPr sz="644"/>
            </a:lvl2pPr>
            <a:lvl3pPr marL="420339" indent="0">
              <a:buNone/>
              <a:defRPr sz="551"/>
            </a:lvl3pPr>
            <a:lvl4pPr marL="630508" indent="0">
              <a:buNone/>
              <a:defRPr sz="460"/>
            </a:lvl4pPr>
            <a:lvl5pPr marL="840677" indent="0">
              <a:buNone/>
              <a:defRPr sz="460"/>
            </a:lvl5pPr>
            <a:lvl6pPr marL="1050847" indent="0">
              <a:buNone/>
              <a:defRPr sz="460"/>
            </a:lvl6pPr>
            <a:lvl7pPr marL="1261016" indent="0">
              <a:buNone/>
              <a:defRPr sz="460"/>
            </a:lvl7pPr>
            <a:lvl8pPr marL="1471185" indent="0">
              <a:buNone/>
              <a:defRPr sz="460"/>
            </a:lvl8pPr>
            <a:lvl9pPr marL="1681355" indent="0">
              <a:buNone/>
              <a:defRPr sz="4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B92F70-336A-23C6-6333-219B5904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A2B8F-FD0F-6303-26D8-2D975201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AC329C-59E8-2882-4EA6-AD95733C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09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5202A-0332-91A1-493D-24542636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76" y="395182"/>
            <a:ext cx="2091049" cy="1383136"/>
          </a:xfrm>
        </p:spPr>
        <p:txBody>
          <a:bodyPr anchor="b"/>
          <a:lstStyle>
            <a:lvl1pPr>
              <a:defRPr sz="147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244DAE-BF81-C575-C1F9-A9A8786AC3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6268" y="853484"/>
            <a:ext cx="3282196" cy="4212527"/>
          </a:xfrm>
        </p:spPr>
        <p:txBody>
          <a:bodyPr/>
          <a:lstStyle>
            <a:lvl1pPr marL="0" indent="0">
              <a:buNone/>
              <a:defRPr sz="1471"/>
            </a:lvl1pPr>
            <a:lvl2pPr marL="210169" indent="0">
              <a:buNone/>
              <a:defRPr sz="1287"/>
            </a:lvl2pPr>
            <a:lvl3pPr marL="420339" indent="0">
              <a:buNone/>
              <a:defRPr sz="1103"/>
            </a:lvl3pPr>
            <a:lvl4pPr marL="630508" indent="0">
              <a:buNone/>
              <a:defRPr sz="920"/>
            </a:lvl4pPr>
            <a:lvl5pPr marL="840677" indent="0">
              <a:buNone/>
              <a:defRPr sz="920"/>
            </a:lvl5pPr>
            <a:lvl6pPr marL="1050847" indent="0">
              <a:buNone/>
              <a:defRPr sz="920"/>
            </a:lvl6pPr>
            <a:lvl7pPr marL="1261016" indent="0">
              <a:buNone/>
              <a:defRPr sz="920"/>
            </a:lvl7pPr>
            <a:lvl8pPr marL="1471185" indent="0">
              <a:buNone/>
              <a:defRPr sz="920"/>
            </a:lvl8pPr>
            <a:lvl9pPr marL="1681355" indent="0">
              <a:buNone/>
              <a:defRPr sz="92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B3DB51-1F32-47BA-F04B-6186C3835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576" y="1778318"/>
            <a:ext cx="2091049" cy="3294553"/>
          </a:xfrm>
        </p:spPr>
        <p:txBody>
          <a:bodyPr/>
          <a:lstStyle>
            <a:lvl1pPr marL="0" indent="0">
              <a:buNone/>
              <a:defRPr sz="736"/>
            </a:lvl1pPr>
            <a:lvl2pPr marL="210169" indent="0">
              <a:buNone/>
              <a:defRPr sz="644"/>
            </a:lvl2pPr>
            <a:lvl3pPr marL="420339" indent="0">
              <a:buNone/>
              <a:defRPr sz="551"/>
            </a:lvl3pPr>
            <a:lvl4pPr marL="630508" indent="0">
              <a:buNone/>
              <a:defRPr sz="460"/>
            </a:lvl4pPr>
            <a:lvl5pPr marL="840677" indent="0">
              <a:buNone/>
              <a:defRPr sz="460"/>
            </a:lvl5pPr>
            <a:lvl6pPr marL="1050847" indent="0">
              <a:buNone/>
              <a:defRPr sz="460"/>
            </a:lvl6pPr>
            <a:lvl7pPr marL="1261016" indent="0">
              <a:buNone/>
              <a:defRPr sz="460"/>
            </a:lvl7pPr>
            <a:lvl8pPr marL="1471185" indent="0">
              <a:buNone/>
              <a:defRPr sz="460"/>
            </a:lvl8pPr>
            <a:lvl9pPr marL="1681355" indent="0">
              <a:buNone/>
              <a:defRPr sz="4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1516DA-8C41-DA8A-E2CA-D6927DF9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A70BC0-33F9-77F4-9060-C91495B9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8DC48D-3099-EF44-BAB4-E5B546F9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81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F9ABF-6734-6E6D-C023-FD6FF66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DF4A0E-DEA6-7EA3-6C95-375ABBFF9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B397C-6DEF-E49E-D87D-C2F75927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B7D547-BD65-779C-51CC-D174F5C3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01BEB-9033-E123-0B45-12898F8C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24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9573D8-FE4E-FD3D-4361-4C2C98A4E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9648" y="315596"/>
            <a:ext cx="1397972" cy="50234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90003C-FEA8-8EB5-1A28-5EE07AE67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731" y="315596"/>
            <a:ext cx="4112875" cy="50234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B897D7-5262-78C9-4614-CD9E74E4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1ED32-49D1-D375-CCDB-0504C9DD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A3356-79A8-6F48-9F1E-51F514EC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4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8D95AA-B18D-9C69-0014-AF7FEB73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32" y="315598"/>
            <a:ext cx="5591889" cy="1145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37379-F988-E917-42A7-A9703CB35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32" y="1577982"/>
            <a:ext cx="5591889" cy="3761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B0C4F-1184-E1D9-FB91-65EAEBADA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730" y="5494124"/>
            <a:ext cx="1458754" cy="315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C1CC0-50BF-4070-98D6-74CE8FB098B3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46D5B0-A2EC-7C1C-80EA-202C5622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7611" y="5494124"/>
            <a:ext cx="2188131" cy="315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858B8-558E-85A7-EAE6-FBD88DC37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8866" y="5494124"/>
            <a:ext cx="1458754" cy="3155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A7488-8393-4B81-AAB4-8A0865F3E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65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0339" rtl="0" eaLnBrk="1" latinLnBrk="0" hangingPunct="1">
        <a:lnSpc>
          <a:spcPct val="90000"/>
        </a:lnSpc>
        <a:spcBef>
          <a:spcPct val="0"/>
        </a:spcBef>
        <a:buNone/>
        <a:defRPr sz="20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5084" indent="-105084" algn="l" defTabSz="420339" rtl="0" eaLnBrk="1" latinLnBrk="0" hangingPunct="1">
        <a:lnSpc>
          <a:spcPct val="90000"/>
        </a:lnSpc>
        <a:spcBef>
          <a:spcPts val="460"/>
        </a:spcBef>
        <a:buFont typeface="Arial" panose="020B0604020202020204" pitchFamily="34" charset="0"/>
        <a:buChar char="•"/>
        <a:defRPr sz="1287" kern="1200">
          <a:solidFill>
            <a:schemeClr val="tx1"/>
          </a:solidFill>
          <a:latin typeface="+mn-lt"/>
          <a:ea typeface="+mn-ea"/>
          <a:cs typeface="+mn-cs"/>
        </a:defRPr>
      </a:lvl1pPr>
      <a:lvl2pPr marL="315254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2pPr>
      <a:lvl3pPr marL="525423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35592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4pPr>
      <a:lvl5pPr marL="945762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5pPr>
      <a:lvl6pPr marL="1155931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6pPr>
      <a:lvl7pPr marL="1366100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7pPr>
      <a:lvl8pPr marL="1576270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8pPr>
      <a:lvl9pPr marL="1786439" indent="-105084" algn="l" defTabSz="420339" rtl="0" eaLnBrk="1" latinLnBrk="0" hangingPunct="1">
        <a:lnSpc>
          <a:spcPct val="90000"/>
        </a:lnSpc>
        <a:spcBef>
          <a:spcPts val="230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1pPr>
      <a:lvl2pPr marL="210169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2pPr>
      <a:lvl3pPr marL="420339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3pPr>
      <a:lvl4pPr marL="630508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4pPr>
      <a:lvl5pPr marL="840677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5pPr>
      <a:lvl6pPr marL="1050847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6pPr>
      <a:lvl7pPr marL="1261016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7pPr>
      <a:lvl8pPr marL="1471185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8pPr>
      <a:lvl9pPr marL="1681355" algn="l" defTabSz="420339" rtl="0" eaLnBrk="1" latinLnBrk="0" hangingPunct="1">
        <a:defRPr sz="8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chart" Target="../charts/chart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1_v7_map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map_basefield" descr="Raster-only visual evidence: Continuous cartographic field: Natural Earth land and ocean polygons, coastlines, national borders, a 2,025-cell spring-migration direction quiver field colour-coded by direction concentration (0.84-1.00), and 4,246 wind-farm centroid marks plus 6 radar stations. This vector and point density cannot be faithfully rebuilt as native PowerPoint AutoShapes.">
            <a:extLst>
              <a:ext uri="{FF2B5EF4-FFF2-40B4-BE49-F238E27FC236}">
                <a16:creationId xmlns:a16="http://schemas.microsoft.com/office/drawing/2014/main" id="{9939C911-3F13-2734-6546-B5C8F9BA097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83350" cy="5927725"/>
          </a:xfrm>
          <a:prstGeom prst="rect">
            <a:avLst/>
          </a:prstGeom>
        </p:spPr>
      </p:pic>
      <p:sp>
        <p:nvSpPr>
          <p:cNvPr id="4" name="fig_frame">
            <a:extLst>
              <a:ext uri="{FF2B5EF4-FFF2-40B4-BE49-F238E27FC236}">
                <a16:creationId xmlns:a16="http://schemas.microsoft.com/office/drawing/2014/main" id="{3B313EF2-1C99-BF89-961F-7F60AEFAD77D}"/>
              </a:ext>
            </a:extLst>
          </p:cNvPr>
          <p:cNvSpPr/>
          <p:nvPr/>
        </p:nvSpPr>
        <p:spPr>
          <a:xfrm>
            <a:off x="3175" y="3175"/>
            <a:ext cx="6477000" cy="592137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8C8C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anel_label_a">
            <a:extLst>
              <a:ext uri="{FF2B5EF4-FFF2-40B4-BE49-F238E27FC236}">
                <a16:creationId xmlns:a16="http://schemas.microsoft.com/office/drawing/2014/main" id="{FC2E8A3B-4CA3-AEDE-9EAE-FA288F38DE92}"/>
              </a:ext>
            </a:extLst>
          </p:cNvPr>
          <p:cNvSpPr txBox="1"/>
          <p:nvPr/>
        </p:nvSpPr>
        <p:spPr>
          <a:xfrm>
            <a:off x="88900" y="38100"/>
            <a:ext cx="260008" cy="177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800" b="1">
                <a:solidFill>
                  <a:srgbClr val="111111"/>
                </a:solidFill>
                <a:latin typeface="Arial" panose="020B0604020202020204" pitchFamily="34" charset="0"/>
              </a:rPr>
              <a:t>a</a:t>
            </a:r>
            <a:endParaRPr lang="zh-CN" altLang="en-US" sz="8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6" name="map_title">
            <a:extLst>
              <a:ext uri="{FF2B5EF4-FFF2-40B4-BE49-F238E27FC236}">
                <a16:creationId xmlns:a16="http://schemas.microsoft.com/office/drawing/2014/main" id="{45041330-5E44-C599-F7C8-952239978BF2}"/>
              </a:ext>
            </a:extLst>
          </p:cNvPr>
          <p:cNvSpPr txBox="1"/>
          <p:nvPr/>
        </p:nvSpPr>
        <p:spPr>
          <a:xfrm>
            <a:off x="279400" y="50800"/>
            <a:ext cx="2568332" cy="1397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700" b="1">
                <a:solidFill>
                  <a:srgbClr val="111111"/>
                </a:solidFill>
                <a:latin typeface="Arial" panose="020B0604020202020204" pitchFamily="34" charset="0"/>
              </a:rPr>
              <a:t>Study region and spring migration direction field</a:t>
            </a:r>
            <a:endParaRPr lang="zh-CN" altLang="en-US" sz="7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7" name="leg_mk_onshore">
            <a:extLst>
              <a:ext uri="{FF2B5EF4-FFF2-40B4-BE49-F238E27FC236}">
                <a16:creationId xmlns:a16="http://schemas.microsoft.com/office/drawing/2014/main" id="{2D3E7874-83DB-0B41-C0CE-6E0C286E713F}"/>
              </a:ext>
            </a:extLst>
          </p:cNvPr>
          <p:cNvSpPr/>
          <p:nvPr/>
        </p:nvSpPr>
        <p:spPr>
          <a:xfrm>
            <a:off x="177800" y="298450"/>
            <a:ext cx="63500" cy="63500"/>
          </a:xfrm>
          <a:prstGeom prst="ellipse">
            <a:avLst/>
          </a:prstGeom>
          <a:solidFill>
            <a:srgbClr val="0072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eg_tx_onshore">
            <a:extLst>
              <a:ext uri="{FF2B5EF4-FFF2-40B4-BE49-F238E27FC236}">
                <a16:creationId xmlns:a16="http://schemas.microsoft.com/office/drawing/2014/main" id="{1C9D520B-978B-96EE-E1DE-981D4FBDEE77}"/>
              </a:ext>
            </a:extLst>
          </p:cNvPr>
          <p:cNvSpPr txBox="1"/>
          <p:nvPr/>
        </p:nvSpPr>
        <p:spPr>
          <a:xfrm>
            <a:off x="292100" y="254000"/>
            <a:ext cx="1311578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Onshore wind farm (n = 4,191)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9" name="leg_mk_vpts">
            <a:extLst>
              <a:ext uri="{FF2B5EF4-FFF2-40B4-BE49-F238E27FC236}">
                <a16:creationId xmlns:a16="http://schemas.microsoft.com/office/drawing/2014/main" id="{F3027B78-939A-40EA-B192-DFE5571A53C0}"/>
              </a:ext>
            </a:extLst>
          </p:cNvPr>
          <p:cNvSpPr/>
          <p:nvPr/>
        </p:nvSpPr>
        <p:spPr>
          <a:xfrm>
            <a:off x="171450" y="438150"/>
            <a:ext cx="76200" cy="76200"/>
          </a:xfrm>
          <a:prstGeom prst="ellipse">
            <a:avLst/>
          </a:prstGeom>
          <a:solidFill>
            <a:srgbClr val="009E73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eg_tx_vpts">
            <a:extLst>
              <a:ext uri="{FF2B5EF4-FFF2-40B4-BE49-F238E27FC236}">
                <a16:creationId xmlns:a16="http://schemas.microsoft.com/office/drawing/2014/main" id="{5DA073B6-CCC0-8F27-2E46-93DB21EFFAB9}"/>
              </a:ext>
            </a:extLst>
          </p:cNvPr>
          <p:cNvSpPr txBox="1"/>
          <p:nvPr/>
        </p:nvSpPr>
        <p:spPr>
          <a:xfrm>
            <a:off x="292100" y="393700"/>
            <a:ext cx="1479892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Offshore farm, VPTS radar (n = 29)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leg_mk_bauer">
            <a:extLst>
              <a:ext uri="{FF2B5EF4-FFF2-40B4-BE49-F238E27FC236}">
                <a16:creationId xmlns:a16="http://schemas.microsoft.com/office/drawing/2014/main" id="{566D153C-15FF-6466-821B-D4D2A7510DCB}"/>
              </a:ext>
            </a:extLst>
          </p:cNvPr>
          <p:cNvSpPr/>
          <p:nvPr/>
        </p:nvSpPr>
        <p:spPr>
          <a:xfrm>
            <a:off x="171450" y="577850"/>
            <a:ext cx="76200" cy="76200"/>
          </a:xfrm>
          <a:prstGeom prst="rect">
            <a:avLst/>
          </a:prstGeom>
          <a:solidFill>
            <a:srgbClr val="CC79A7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leg_tx_bauer">
            <a:extLst>
              <a:ext uri="{FF2B5EF4-FFF2-40B4-BE49-F238E27FC236}">
                <a16:creationId xmlns:a16="http://schemas.microsoft.com/office/drawing/2014/main" id="{60D428CB-BA1E-0B45-F45F-9DC50CB1B49C}"/>
              </a:ext>
            </a:extLst>
          </p:cNvPr>
          <p:cNvSpPr txBox="1"/>
          <p:nvPr/>
        </p:nvSpPr>
        <p:spPr>
          <a:xfrm>
            <a:off x="292100" y="533400"/>
            <a:ext cx="1428596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Offshore farm, Bauer grid (n = 26)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3" name="leg_mk_radar">
            <a:extLst>
              <a:ext uri="{FF2B5EF4-FFF2-40B4-BE49-F238E27FC236}">
                <a16:creationId xmlns:a16="http://schemas.microsoft.com/office/drawing/2014/main" id="{5E08E036-A1E2-E186-2098-AD8B7E5F8BCD}"/>
              </a:ext>
            </a:extLst>
          </p:cNvPr>
          <p:cNvSpPr/>
          <p:nvPr/>
        </p:nvSpPr>
        <p:spPr>
          <a:xfrm>
            <a:off x="165100" y="717550"/>
            <a:ext cx="88900" cy="76200"/>
          </a:xfrm>
          <a:prstGeom prst="triangl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eg_tx_radar">
            <a:extLst>
              <a:ext uri="{FF2B5EF4-FFF2-40B4-BE49-F238E27FC236}">
                <a16:creationId xmlns:a16="http://schemas.microsoft.com/office/drawing/2014/main" id="{C310981A-B814-0B6A-D8A9-F981514446DF}"/>
              </a:ext>
            </a:extLst>
          </p:cNvPr>
          <p:cNvSpPr txBox="1"/>
          <p:nvPr/>
        </p:nvSpPr>
        <p:spPr>
          <a:xfrm>
            <a:off x="292100" y="673100"/>
            <a:ext cx="1245854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Weather radar station (n = 6)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5" name="cbar_title">
            <a:extLst>
              <a:ext uri="{FF2B5EF4-FFF2-40B4-BE49-F238E27FC236}">
                <a16:creationId xmlns:a16="http://schemas.microsoft.com/office/drawing/2014/main" id="{C593D636-3411-2118-4144-B724DAC7D0CE}"/>
              </a:ext>
            </a:extLst>
          </p:cNvPr>
          <p:cNvSpPr txBox="1"/>
          <p:nvPr/>
        </p:nvSpPr>
        <p:spPr>
          <a:xfrm>
            <a:off x="4445000" y="152400"/>
            <a:ext cx="1603324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Spring migration direction concentration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6" name="cbar_s01">
            <a:extLst>
              <a:ext uri="{FF2B5EF4-FFF2-40B4-BE49-F238E27FC236}">
                <a16:creationId xmlns:a16="http://schemas.microsoft.com/office/drawing/2014/main" id="{187CBBAC-91EB-98FC-97A6-F5D4586F0935}"/>
              </a:ext>
            </a:extLst>
          </p:cNvPr>
          <p:cNvSpPr/>
          <p:nvPr/>
        </p:nvSpPr>
        <p:spPr>
          <a:xfrm>
            <a:off x="4445000" y="330200"/>
            <a:ext cx="75565" cy="88900"/>
          </a:xfrm>
          <a:prstGeom prst="rect">
            <a:avLst/>
          </a:prstGeom>
          <a:solidFill>
            <a:srgbClr val="4508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bar_s02">
            <a:extLst>
              <a:ext uri="{FF2B5EF4-FFF2-40B4-BE49-F238E27FC236}">
                <a16:creationId xmlns:a16="http://schemas.microsoft.com/office/drawing/2014/main" id="{95BE3C63-E83A-1B15-A0FA-7787B5734D38}"/>
              </a:ext>
            </a:extLst>
          </p:cNvPr>
          <p:cNvSpPr/>
          <p:nvPr/>
        </p:nvSpPr>
        <p:spPr>
          <a:xfrm>
            <a:off x="4519041" y="330200"/>
            <a:ext cx="75565" cy="88900"/>
          </a:xfrm>
          <a:prstGeom prst="rect">
            <a:avLst/>
          </a:prstGeom>
          <a:solidFill>
            <a:srgbClr val="4718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cbar_s03">
            <a:extLst>
              <a:ext uri="{FF2B5EF4-FFF2-40B4-BE49-F238E27FC236}">
                <a16:creationId xmlns:a16="http://schemas.microsoft.com/office/drawing/2014/main" id="{BF854159-1B35-CE10-D947-4D719B736055}"/>
              </a:ext>
            </a:extLst>
          </p:cNvPr>
          <p:cNvSpPr/>
          <p:nvPr/>
        </p:nvSpPr>
        <p:spPr>
          <a:xfrm>
            <a:off x="4593209" y="330200"/>
            <a:ext cx="75565" cy="88900"/>
          </a:xfrm>
          <a:prstGeom prst="rect">
            <a:avLst/>
          </a:prstGeom>
          <a:solidFill>
            <a:srgbClr val="4725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cbar_s04">
            <a:extLst>
              <a:ext uri="{FF2B5EF4-FFF2-40B4-BE49-F238E27FC236}">
                <a16:creationId xmlns:a16="http://schemas.microsoft.com/office/drawing/2014/main" id="{DB349E74-4900-9258-F60B-F33DEEF1086B}"/>
              </a:ext>
            </a:extLst>
          </p:cNvPr>
          <p:cNvSpPr/>
          <p:nvPr/>
        </p:nvSpPr>
        <p:spPr>
          <a:xfrm>
            <a:off x="4667250" y="330200"/>
            <a:ext cx="75565" cy="88900"/>
          </a:xfrm>
          <a:prstGeom prst="rect">
            <a:avLst/>
          </a:prstGeom>
          <a:solidFill>
            <a:srgbClr val="4532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cbar_s05">
            <a:extLst>
              <a:ext uri="{FF2B5EF4-FFF2-40B4-BE49-F238E27FC236}">
                <a16:creationId xmlns:a16="http://schemas.microsoft.com/office/drawing/2014/main" id="{74D7E3A6-BE03-C103-3F2B-1BABC6755FB8}"/>
              </a:ext>
            </a:extLst>
          </p:cNvPr>
          <p:cNvSpPr/>
          <p:nvPr/>
        </p:nvSpPr>
        <p:spPr>
          <a:xfrm>
            <a:off x="4741291" y="330200"/>
            <a:ext cx="75565" cy="88900"/>
          </a:xfrm>
          <a:prstGeom prst="rect">
            <a:avLst/>
          </a:prstGeom>
          <a:solidFill>
            <a:srgbClr val="424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cbar_s06">
            <a:extLst>
              <a:ext uri="{FF2B5EF4-FFF2-40B4-BE49-F238E27FC236}">
                <a16:creationId xmlns:a16="http://schemas.microsoft.com/office/drawing/2014/main" id="{76694516-EECE-8FFB-9885-FD32A4AFD3FF}"/>
              </a:ext>
            </a:extLst>
          </p:cNvPr>
          <p:cNvSpPr/>
          <p:nvPr/>
        </p:nvSpPr>
        <p:spPr>
          <a:xfrm>
            <a:off x="4815459" y="330200"/>
            <a:ext cx="75565" cy="88900"/>
          </a:xfrm>
          <a:prstGeom prst="rect">
            <a:avLst/>
          </a:prstGeom>
          <a:solidFill>
            <a:srgbClr val="3D4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cbar_s07">
            <a:extLst>
              <a:ext uri="{FF2B5EF4-FFF2-40B4-BE49-F238E27FC236}">
                <a16:creationId xmlns:a16="http://schemas.microsoft.com/office/drawing/2014/main" id="{F3C66F2A-22C1-806F-D574-AA7AB7512345}"/>
              </a:ext>
            </a:extLst>
          </p:cNvPr>
          <p:cNvSpPr/>
          <p:nvPr/>
        </p:nvSpPr>
        <p:spPr>
          <a:xfrm>
            <a:off x="4889500" y="330200"/>
            <a:ext cx="75565" cy="88900"/>
          </a:xfrm>
          <a:prstGeom prst="rect">
            <a:avLst/>
          </a:prstGeom>
          <a:solidFill>
            <a:srgbClr val="3857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cbar_s08">
            <a:extLst>
              <a:ext uri="{FF2B5EF4-FFF2-40B4-BE49-F238E27FC236}">
                <a16:creationId xmlns:a16="http://schemas.microsoft.com/office/drawing/2014/main" id="{69A60475-CE4E-4727-5057-79732069975B}"/>
              </a:ext>
            </a:extLst>
          </p:cNvPr>
          <p:cNvSpPr/>
          <p:nvPr/>
        </p:nvSpPr>
        <p:spPr>
          <a:xfrm>
            <a:off x="4963541" y="330200"/>
            <a:ext cx="75565" cy="88900"/>
          </a:xfrm>
          <a:prstGeom prst="rect">
            <a:avLst/>
          </a:prstGeom>
          <a:solidFill>
            <a:srgbClr val="3262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cbar_s09">
            <a:extLst>
              <a:ext uri="{FF2B5EF4-FFF2-40B4-BE49-F238E27FC236}">
                <a16:creationId xmlns:a16="http://schemas.microsoft.com/office/drawing/2014/main" id="{81B4572B-FA7A-A414-0DA9-34486167CA45}"/>
              </a:ext>
            </a:extLst>
          </p:cNvPr>
          <p:cNvSpPr/>
          <p:nvPr/>
        </p:nvSpPr>
        <p:spPr>
          <a:xfrm>
            <a:off x="5037709" y="330200"/>
            <a:ext cx="75565" cy="88900"/>
          </a:xfrm>
          <a:prstGeom prst="rect">
            <a:avLst/>
          </a:prstGeom>
          <a:solidFill>
            <a:srgbClr val="2E6C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cbar_s10">
            <a:extLst>
              <a:ext uri="{FF2B5EF4-FFF2-40B4-BE49-F238E27FC236}">
                <a16:creationId xmlns:a16="http://schemas.microsoft.com/office/drawing/2014/main" id="{AAB5A95C-5165-F33A-5A04-9E57313950BD}"/>
              </a:ext>
            </a:extLst>
          </p:cNvPr>
          <p:cNvSpPr/>
          <p:nvPr/>
        </p:nvSpPr>
        <p:spPr>
          <a:xfrm>
            <a:off x="5111750" y="330200"/>
            <a:ext cx="75565" cy="88900"/>
          </a:xfrm>
          <a:prstGeom prst="rect">
            <a:avLst/>
          </a:prstGeom>
          <a:solidFill>
            <a:srgbClr val="2A77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cbar_s11">
            <a:extLst>
              <a:ext uri="{FF2B5EF4-FFF2-40B4-BE49-F238E27FC236}">
                <a16:creationId xmlns:a16="http://schemas.microsoft.com/office/drawing/2014/main" id="{FA43A163-D2A2-39EF-159B-33A50A937201}"/>
              </a:ext>
            </a:extLst>
          </p:cNvPr>
          <p:cNvSpPr/>
          <p:nvPr/>
        </p:nvSpPr>
        <p:spPr>
          <a:xfrm>
            <a:off x="5185791" y="330200"/>
            <a:ext cx="75565" cy="88900"/>
          </a:xfrm>
          <a:prstGeom prst="rect">
            <a:avLst/>
          </a:prstGeom>
          <a:solidFill>
            <a:srgbClr val="268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cbar_s12">
            <a:extLst>
              <a:ext uri="{FF2B5EF4-FFF2-40B4-BE49-F238E27FC236}">
                <a16:creationId xmlns:a16="http://schemas.microsoft.com/office/drawing/2014/main" id="{2E39CF08-D8CD-E532-0ACE-C8866A04D9D7}"/>
              </a:ext>
            </a:extLst>
          </p:cNvPr>
          <p:cNvSpPr/>
          <p:nvPr/>
        </p:nvSpPr>
        <p:spPr>
          <a:xfrm>
            <a:off x="5259959" y="330200"/>
            <a:ext cx="75565" cy="88900"/>
          </a:xfrm>
          <a:prstGeom prst="rect">
            <a:avLst/>
          </a:prstGeom>
          <a:solidFill>
            <a:srgbClr val="228A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cbar_s13">
            <a:extLst>
              <a:ext uri="{FF2B5EF4-FFF2-40B4-BE49-F238E27FC236}">
                <a16:creationId xmlns:a16="http://schemas.microsoft.com/office/drawing/2014/main" id="{F7787444-059F-47CC-DDE4-870BE6277462}"/>
              </a:ext>
            </a:extLst>
          </p:cNvPr>
          <p:cNvSpPr/>
          <p:nvPr/>
        </p:nvSpPr>
        <p:spPr>
          <a:xfrm>
            <a:off x="5334000" y="330200"/>
            <a:ext cx="75565" cy="88900"/>
          </a:xfrm>
          <a:prstGeom prst="rect">
            <a:avLst/>
          </a:prstGeom>
          <a:solidFill>
            <a:srgbClr val="1F95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cbar_s14">
            <a:extLst>
              <a:ext uri="{FF2B5EF4-FFF2-40B4-BE49-F238E27FC236}">
                <a16:creationId xmlns:a16="http://schemas.microsoft.com/office/drawing/2014/main" id="{6745A794-02FD-4BB5-2E5D-9123B7FE4896}"/>
              </a:ext>
            </a:extLst>
          </p:cNvPr>
          <p:cNvSpPr/>
          <p:nvPr/>
        </p:nvSpPr>
        <p:spPr>
          <a:xfrm>
            <a:off x="5408041" y="330200"/>
            <a:ext cx="75565" cy="88900"/>
          </a:xfrm>
          <a:prstGeom prst="rect">
            <a:avLst/>
          </a:prstGeom>
          <a:solidFill>
            <a:srgbClr val="1E9F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cbar_s15">
            <a:extLst>
              <a:ext uri="{FF2B5EF4-FFF2-40B4-BE49-F238E27FC236}">
                <a16:creationId xmlns:a16="http://schemas.microsoft.com/office/drawing/2014/main" id="{37DFF157-7385-E2D7-9CD3-23C18772082A}"/>
              </a:ext>
            </a:extLst>
          </p:cNvPr>
          <p:cNvSpPr/>
          <p:nvPr/>
        </p:nvSpPr>
        <p:spPr>
          <a:xfrm>
            <a:off x="5482209" y="330200"/>
            <a:ext cx="75565" cy="88900"/>
          </a:xfrm>
          <a:prstGeom prst="rect">
            <a:avLst/>
          </a:prstGeom>
          <a:solidFill>
            <a:srgbClr val="23A8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cbar_s16">
            <a:extLst>
              <a:ext uri="{FF2B5EF4-FFF2-40B4-BE49-F238E27FC236}">
                <a16:creationId xmlns:a16="http://schemas.microsoft.com/office/drawing/2014/main" id="{B4220506-18EE-B780-0DD5-BD4899F2B6CF}"/>
              </a:ext>
            </a:extLst>
          </p:cNvPr>
          <p:cNvSpPr/>
          <p:nvPr/>
        </p:nvSpPr>
        <p:spPr>
          <a:xfrm>
            <a:off x="5556250" y="330200"/>
            <a:ext cx="75565" cy="88900"/>
          </a:xfrm>
          <a:prstGeom prst="rect">
            <a:avLst/>
          </a:prstGeom>
          <a:solidFill>
            <a:srgbClr val="2EB2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bar_s17">
            <a:extLst>
              <a:ext uri="{FF2B5EF4-FFF2-40B4-BE49-F238E27FC236}">
                <a16:creationId xmlns:a16="http://schemas.microsoft.com/office/drawing/2014/main" id="{80C8BCE7-EE32-AA05-ED6B-2E7CA3C4FC46}"/>
              </a:ext>
            </a:extLst>
          </p:cNvPr>
          <p:cNvSpPr/>
          <p:nvPr/>
        </p:nvSpPr>
        <p:spPr>
          <a:xfrm>
            <a:off x="5630291" y="330200"/>
            <a:ext cx="75565" cy="88900"/>
          </a:xfrm>
          <a:prstGeom prst="rect">
            <a:avLst/>
          </a:prstGeom>
          <a:solidFill>
            <a:srgbClr val="3EBC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cbar_s18">
            <a:extLst>
              <a:ext uri="{FF2B5EF4-FFF2-40B4-BE49-F238E27FC236}">
                <a16:creationId xmlns:a16="http://schemas.microsoft.com/office/drawing/2014/main" id="{0D97C87D-23D3-DE82-727A-CD3146E48EEB}"/>
              </a:ext>
            </a:extLst>
          </p:cNvPr>
          <p:cNvSpPr/>
          <p:nvPr/>
        </p:nvSpPr>
        <p:spPr>
          <a:xfrm>
            <a:off x="5704459" y="330200"/>
            <a:ext cx="75565" cy="88900"/>
          </a:xfrm>
          <a:prstGeom prst="rect">
            <a:avLst/>
          </a:prstGeom>
          <a:solidFill>
            <a:srgbClr val="51C4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cbar_s19">
            <a:extLst>
              <a:ext uri="{FF2B5EF4-FFF2-40B4-BE49-F238E27FC236}">
                <a16:creationId xmlns:a16="http://schemas.microsoft.com/office/drawing/2014/main" id="{31C9D05C-A242-9AA8-1762-F5AE5978666E}"/>
              </a:ext>
            </a:extLst>
          </p:cNvPr>
          <p:cNvSpPr/>
          <p:nvPr/>
        </p:nvSpPr>
        <p:spPr>
          <a:xfrm>
            <a:off x="5778500" y="330200"/>
            <a:ext cx="75565" cy="88900"/>
          </a:xfrm>
          <a:prstGeom prst="rect">
            <a:avLst/>
          </a:prstGeom>
          <a:solidFill>
            <a:srgbClr val="69CC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cbar_s20">
            <a:extLst>
              <a:ext uri="{FF2B5EF4-FFF2-40B4-BE49-F238E27FC236}">
                <a16:creationId xmlns:a16="http://schemas.microsoft.com/office/drawing/2014/main" id="{939E3A43-BEC0-C50E-FF81-7DD5FAE5C30C}"/>
              </a:ext>
            </a:extLst>
          </p:cNvPr>
          <p:cNvSpPr/>
          <p:nvPr/>
        </p:nvSpPr>
        <p:spPr>
          <a:xfrm>
            <a:off x="5852541" y="330200"/>
            <a:ext cx="75565" cy="88900"/>
          </a:xfrm>
          <a:prstGeom prst="rect">
            <a:avLst/>
          </a:prstGeom>
          <a:solidFill>
            <a:srgbClr val="83D3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cbar_s21">
            <a:extLst>
              <a:ext uri="{FF2B5EF4-FFF2-40B4-BE49-F238E27FC236}">
                <a16:creationId xmlns:a16="http://schemas.microsoft.com/office/drawing/2014/main" id="{C4ED6FEE-8D4B-6C45-158B-84B441E7B36C}"/>
              </a:ext>
            </a:extLst>
          </p:cNvPr>
          <p:cNvSpPr/>
          <p:nvPr/>
        </p:nvSpPr>
        <p:spPr>
          <a:xfrm>
            <a:off x="5926709" y="330200"/>
            <a:ext cx="75565" cy="88900"/>
          </a:xfrm>
          <a:prstGeom prst="rect">
            <a:avLst/>
          </a:prstGeom>
          <a:solidFill>
            <a:srgbClr val="9DD9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cbar_s22">
            <a:extLst>
              <a:ext uri="{FF2B5EF4-FFF2-40B4-BE49-F238E27FC236}">
                <a16:creationId xmlns:a16="http://schemas.microsoft.com/office/drawing/2014/main" id="{AFEA002C-7ECF-EEF7-6677-02EF95764D39}"/>
              </a:ext>
            </a:extLst>
          </p:cNvPr>
          <p:cNvSpPr/>
          <p:nvPr/>
        </p:nvSpPr>
        <p:spPr>
          <a:xfrm>
            <a:off x="6000750" y="330200"/>
            <a:ext cx="75565" cy="88900"/>
          </a:xfrm>
          <a:prstGeom prst="rect">
            <a:avLst/>
          </a:prstGeom>
          <a:solidFill>
            <a:srgbClr val="BADE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cbar_s23">
            <a:extLst>
              <a:ext uri="{FF2B5EF4-FFF2-40B4-BE49-F238E27FC236}">
                <a16:creationId xmlns:a16="http://schemas.microsoft.com/office/drawing/2014/main" id="{5D913B28-45BF-1314-DBB4-CC9731C06FAD}"/>
              </a:ext>
            </a:extLst>
          </p:cNvPr>
          <p:cNvSpPr/>
          <p:nvPr/>
        </p:nvSpPr>
        <p:spPr>
          <a:xfrm>
            <a:off x="6074791" y="330200"/>
            <a:ext cx="75565" cy="88900"/>
          </a:xfrm>
          <a:prstGeom prst="rect">
            <a:avLst/>
          </a:prstGeom>
          <a:solidFill>
            <a:srgbClr val="D7E2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cbar_s24">
            <a:extLst>
              <a:ext uri="{FF2B5EF4-FFF2-40B4-BE49-F238E27FC236}">
                <a16:creationId xmlns:a16="http://schemas.microsoft.com/office/drawing/2014/main" id="{B159E20D-D67C-E2BA-60CA-227E7CDC5039}"/>
              </a:ext>
            </a:extLst>
          </p:cNvPr>
          <p:cNvSpPr/>
          <p:nvPr/>
        </p:nvSpPr>
        <p:spPr>
          <a:xfrm>
            <a:off x="6148959" y="330200"/>
            <a:ext cx="74041" cy="88900"/>
          </a:xfrm>
          <a:prstGeom prst="rect">
            <a:avLst/>
          </a:prstGeom>
          <a:solidFill>
            <a:srgbClr val="F1E5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cbar_frame">
            <a:extLst>
              <a:ext uri="{FF2B5EF4-FFF2-40B4-BE49-F238E27FC236}">
                <a16:creationId xmlns:a16="http://schemas.microsoft.com/office/drawing/2014/main" id="{16974F4D-1D41-E7BC-4CF3-5F8F4BB2B6C2}"/>
              </a:ext>
            </a:extLst>
          </p:cNvPr>
          <p:cNvSpPr/>
          <p:nvPr/>
        </p:nvSpPr>
        <p:spPr>
          <a:xfrm>
            <a:off x="4445000" y="330200"/>
            <a:ext cx="1778000" cy="889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cbar_tick_085">
            <a:extLst>
              <a:ext uri="{FF2B5EF4-FFF2-40B4-BE49-F238E27FC236}">
                <a16:creationId xmlns:a16="http://schemas.microsoft.com/office/drawing/2014/main" id="{A07EBF66-292C-E02E-FED1-342736685C60}"/>
              </a:ext>
            </a:extLst>
          </p:cNvPr>
          <p:cNvSpPr txBox="1"/>
          <p:nvPr/>
        </p:nvSpPr>
        <p:spPr>
          <a:xfrm>
            <a:off x="4414012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0.85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2" name="cbar_tick_090">
            <a:extLst>
              <a:ext uri="{FF2B5EF4-FFF2-40B4-BE49-F238E27FC236}">
                <a16:creationId xmlns:a16="http://schemas.microsoft.com/office/drawing/2014/main" id="{2DD6B43B-BB7D-C5D9-44BF-45694087FB2C}"/>
              </a:ext>
            </a:extLst>
          </p:cNvPr>
          <p:cNvSpPr txBox="1"/>
          <p:nvPr/>
        </p:nvSpPr>
        <p:spPr>
          <a:xfrm>
            <a:off x="4969637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0.90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3" name="cbar_tick_095">
            <a:extLst>
              <a:ext uri="{FF2B5EF4-FFF2-40B4-BE49-F238E27FC236}">
                <a16:creationId xmlns:a16="http://schemas.microsoft.com/office/drawing/2014/main" id="{88516233-7C2A-969B-8CE9-9C55FB00497C}"/>
              </a:ext>
            </a:extLst>
          </p:cNvPr>
          <p:cNvSpPr txBox="1"/>
          <p:nvPr/>
        </p:nvSpPr>
        <p:spPr>
          <a:xfrm>
            <a:off x="5525262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0.95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4" name="cbar_tick_100">
            <a:extLst>
              <a:ext uri="{FF2B5EF4-FFF2-40B4-BE49-F238E27FC236}">
                <a16:creationId xmlns:a16="http://schemas.microsoft.com/office/drawing/2014/main" id="{76C17EBB-D37B-E72C-D9C7-5A99D089C210}"/>
              </a:ext>
            </a:extLst>
          </p:cNvPr>
          <p:cNvSpPr txBox="1"/>
          <p:nvPr/>
        </p:nvSpPr>
        <p:spPr>
          <a:xfrm>
            <a:off x="6080887" y="425450"/>
            <a:ext cx="284053" cy="101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600">
                <a:solidFill>
                  <a:srgbClr val="222222"/>
                </a:solidFill>
                <a:latin typeface="Arial" panose="020B0604020202020204" pitchFamily="34" charset="0"/>
              </a:rPr>
              <a:t>1.00</a:t>
            </a:r>
            <a:endParaRPr lang="zh-CN" altLang="en-US" sz="6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48" name="chain_header">
            <a:extLst>
              <a:ext uri="{FF2B5EF4-FFF2-40B4-BE49-F238E27FC236}">
                <a16:creationId xmlns:a16="http://schemas.microsoft.com/office/drawing/2014/main" id="{338E33D4-A5AE-EA6A-E5BE-EE0387A0293A}"/>
              </a:ext>
            </a:extLst>
          </p:cNvPr>
          <p:cNvSpPr txBox="1"/>
          <p:nvPr/>
        </p:nvSpPr>
        <p:spPr>
          <a:xfrm>
            <a:off x="101600" y="850900"/>
            <a:ext cx="3708400" cy="127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700" b="1">
                <a:solidFill>
                  <a:srgbClr val="4A4A4A"/>
                </a:solidFill>
                <a:latin typeface="Arial" panose="020B0604020202020204" pitchFamily="34" charset="0"/>
              </a:rPr>
              <a:t>Mechanism chain (b → f): array orientation, not siting alone, sets exposure</a:t>
            </a:r>
            <a:endParaRPr lang="zh-CN" altLang="en-US" sz="700" b="1">
              <a:solidFill>
                <a:srgbClr val="4A4A4A"/>
              </a:solidFill>
              <a:latin typeface="Arial" panose="020B0604020202020204" pitchFamily="34" charset="0"/>
            </a:endParaRPr>
          </a:p>
        </p:txBody>
      </p:sp>
      <p:grpSp>
        <p:nvGrpSpPr>
          <p:cNvPr id="138" name="panel_b_migration">
            <a:extLst>
              <a:ext uri="{FF2B5EF4-FFF2-40B4-BE49-F238E27FC236}">
                <a16:creationId xmlns:a16="http://schemas.microsoft.com/office/drawing/2014/main" id="{4154D51E-C4C2-AA6C-0A75-8B37A45AA8AC}"/>
              </a:ext>
            </a:extLst>
          </p:cNvPr>
          <p:cNvGrpSpPr/>
          <p:nvPr/>
        </p:nvGrpSpPr>
        <p:grpSpPr>
          <a:xfrm>
            <a:off x="101600" y="1066800"/>
            <a:ext cx="1320800" cy="1574800"/>
            <a:chOff x="101600" y="1066800"/>
            <a:chExt cx="1320800" cy="1574800"/>
          </a:xfrm>
        </p:grpSpPr>
        <p:sp>
          <p:nvSpPr>
            <p:cNvPr id="49" name="card_b">
              <a:extLst>
                <a:ext uri="{FF2B5EF4-FFF2-40B4-BE49-F238E27FC236}">
                  <a16:creationId xmlns:a16="http://schemas.microsoft.com/office/drawing/2014/main" id="{B31D905F-C3D4-7DD6-216D-3B7FF663DC42}"/>
                </a:ext>
              </a:extLst>
            </p:cNvPr>
            <p:cNvSpPr/>
            <p:nvPr/>
          </p:nvSpPr>
          <p:spPr>
            <a:xfrm>
              <a:off x="101600" y="1066800"/>
              <a:ext cx="1320800" cy="15748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accent_b">
              <a:extLst>
                <a:ext uri="{FF2B5EF4-FFF2-40B4-BE49-F238E27FC236}">
                  <a16:creationId xmlns:a16="http://schemas.microsoft.com/office/drawing/2014/main" id="{086AF98B-49D3-2210-4A84-CCBB32E18D35}"/>
                </a:ext>
              </a:extLst>
            </p:cNvPr>
            <p:cNvSpPr/>
            <p:nvPr/>
          </p:nvSpPr>
          <p:spPr>
            <a:xfrm>
              <a:off x="101600" y="1066800"/>
              <a:ext cx="1320800" cy="33020"/>
            </a:xfrm>
            <a:prstGeom prst="rect">
              <a:avLst/>
            </a:prstGeom>
            <a:solidFill>
              <a:srgbClr val="E69F0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badge_b">
              <a:extLst>
                <a:ext uri="{FF2B5EF4-FFF2-40B4-BE49-F238E27FC236}">
                  <a16:creationId xmlns:a16="http://schemas.microsoft.com/office/drawing/2014/main" id="{0558F03E-E9FC-3A84-67B1-041618D8637E}"/>
                </a:ext>
              </a:extLst>
            </p:cNvPr>
            <p:cNvSpPr txBox="1"/>
            <p:nvPr/>
          </p:nvSpPr>
          <p:spPr>
            <a:xfrm>
              <a:off x="139700" y="1117600"/>
              <a:ext cx="24718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b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title_b">
              <a:extLst>
                <a:ext uri="{FF2B5EF4-FFF2-40B4-BE49-F238E27FC236}">
                  <a16:creationId xmlns:a16="http://schemas.microsoft.com/office/drawing/2014/main" id="{33D41ECC-1AAF-AF3B-7377-EB790A872921}"/>
                </a:ext>
              </a:extLst>
            </p:cNvPr>
            <p:cNvSpPr txBox="1"/>
            <p:nvPr/>
          </p:nvSpPr>
          <p:spPr>
            <a:xfrm>
              <a:off x="254000" y="1117600"/>
              <a:ext cx="1104900" cy="2413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Migration field </a:t>
              </a:r>
              <a:r>
                <a:rPr lang="el-GR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φ</a:t>
              </a:r>
              <a:endParaRPr lang="zh-CN" altLang="en-US" sz="7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cap_b">
              <a:extLst>
                <a:ext uri="{FF2B5EF4-FFF2-40B4-BE49-F238E27FC236}">
                  <a16:creationId xmlns:a16="http://schemas.microsoft.com/office/drawing/2014/main" id="{BF5271DF-FA6C-5ADF-CB6E-4B020FBB4AA8}"/>
                </a:ext>
              </a:extLst>
            </p:cNvPr>
            <p:cNvSpPr txBox="1"/>
            <p:nvPr/>
          </p:nvSpPr>
          <p:spPr>
            <a:xfrm>
              <a:off x="165100" y="2108200"/>
              <a:ext cx="1193800" cy="482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2,025 cells; mean bearing 52 deg, concentration 0.89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8" name="b_arrow_1">
              <a:extLst>
                <a:ext uri="{FF2B5EF4-FFF2-40B4-BE49-F238E27FC236}">
                  <a16:creationId xmlns:a16="http://schemas.microsoft.com/office/drawing/2014/main" id="{1E965EFD-BA00-F0FC-0AAF-B0E9C092CE87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flipV="1">
              <a:off x="322580" y="1484630"/>
              <a:ext cx="320040" cy="25019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_arrow_2">
              <a:extLst>
                <a:ext uri="{FF2B5EF4-FFF2-40B4-BE49-F238E27FC236}">
                  <a16:creationId xmlns:a16="http://schemas.microsoft.com/office/drawing/2014/main" id="{E530C8BB-8E44-F6BF-F158-8E375BAA5567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 flipV="1">
              <a:off x="424180" y="1614805"/>
              <a:ext cx="320040" cy="25019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_arrow_3">
              <a:extLst>
                <a:ext uri="{FF2B5EF4-FFF2-40B4-BE49-F238E27FC236}">
                  <a16:creationId xmlns:a16="http://schemas.microsoft.com/office/drawing/2014/main" id="{1F4BEF85-AE14-3DBE-330D-DF564B198282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>
            <a:xfrm flipV="1">
              <a:off x="525780" y="1744980"/>
              <a:ext cx="320040" cy="25019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b_label_phi">
              <a:extLst>
                <a:ext uri="{FF2B5EF4-FFF2-40B4-BE49-F238E27FC236}">
                  <a16:creationId xmlns:a16="http://schemas.microsoft.com/office/drawing/2014/main" id="{4BDA6CB2-0B64-5A02-D2E1-C3FC9DF6F27A}"/>
                </a:ext>
              </a:extLst>
            </p:cNvPr>
            <p:cNvSpPr txBox="1"/>
            <p:nvPr/>
          </p:nvSpPr>
          <p:spPr>
            <a:xfrm>
              <a:off x="139700" y="1397000"/>
              <a:ext cx="304800" cy="101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l-GR" altLang="zh-CN" sz="600" i="1">
                  <a:solidFill>
                    <a:srgbClr val="B8791A"/>
                  </a:solidFill>
                  <a:latin typeface="Arial" panose="020B0604020202020204" pitchFamily="34" charset="0"/>
                </a:rPr>
                <a:t>φ ≈ 52°</a:t>
              </a:r>
              <a:endParaRPr lang="zh-CN" altLang="en-US" sz="600" i="1">
                <a:solidFill>
                  <a:srgbClr val="B8791A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1" name="panel_c_geometry">
            <a:extLst>
              <a:ext uri="{FF2B5EF4-FFF2-40B4-BE49-F238E27FC236}">
                <a16:creationId xmlns:a16="http://schemas.microsoft.com/office/drawing/2014/main" id="{CC735C97-E21E-570A-A49D-B07F8C5E85BC}"/>
              </a:ext>
            </a:extLst>
          </p:cNvPr>
          <p:cNvGrpSpPr/>
          <p:nvPr/>
        </p:nvGrpSpPr>
        <p:grpSpPr>
          <a:xfrm>
            <a:off x="101600" y="2717800"/>
            <a:ext cx="1320800" cy="1727200"/>
            <a:chOff x="101600" y="2717800"/>
            <a:chExt cx="1320800" cy="1727200"/>
          </a:xfrm>
        </p:grpSpPr>
        <p:sp>
          <p:nvSpPr>
            <p:cNvPr id="50" name="card_c">
              <a:extLst>
                <a:ext uri="{FF2B5EF4-FFF2-40B4-BE49-F238E27FC236}">
                  <a16:creationId xmlns:a16="http://schemas.microsoft.com/office/drawing/2014/main" id="{0CF13C71-3C30-9A49-A774-43ED63BBC3DC}"/>
                </a:ext>
              </a:extLst>
            </p:cNvPr>
            <p:cNvSpPr/>
            <p:nvPr/>
          </p:nvSpPr>
          <p:spPr>
            <a:xfrm>
              <a:off x="101600" y="2717800"/>
              <a:ext cx="1320800" cy="17272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accent_c">
              <a:extLst>
                <a:ext uri="{FF2B5EF4-FFF2-40B4-BE49-F238E27FC236}">
                  <a16:creationId xmlns:a16="http://schemas.microsoft.com/office/drawing/2014/main" id="{4B5F0634-A267-FA56-200B-BB4685B20F14}"/>
                </a:ext>
              </a:extLst>
            </p:cNvPr>
            <p:cNvSpPr/>
            <p:nvPr/>
          </p:nvSpPr>
          <p:spPr>
            <a:xfrm>
              <a:off x="101600" y="2717800"/>
              <a:ext cx="1320800" cy="33020"/>
            </a:xfrm>
            <a:prstGeom prst="rect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badge_c">
              <a:extLst>
                <a:ext uri="{FF2B5EF4-FFF2-40B4-BE49-F238E27FC236}">
                  <a16:creationId xmlns:a16="http://schemas.microsoft.com/office/drawing/2014/main" id="{1B57FFF2-48E7-857E-D463-2B2575B1B1C9}"/>
                </a:ext>
              </a:extLst>
            </p:cNvPr>
            <p:cNvSpPr txBox="1"/>
            <p:nvPr/>
          </p:nvSpPr>
          <p:spPr>
            <a:xfrm>
              <a:off x="139700" y="2768600"/>
              <a:ext cx="24237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c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title_c">
              <a:extLst>
                <a:ext uri="{FF2B5EF4-FFF2-40B4-BE49-F238E27FC236}">
                  <a16:creationId xmlns:a16="http://schemas.microsoft.com/office/drawing/2014/main" id="{98704AA3-9D68-5CF7-7C16-D9C1E5C751B4}"/>
                </a:ext>
              </a:extLst>
            </p:cNvPr>
            <p:cNvSpPr txBox="1"/>
            <p:nvPr/>
          </p:nvSpPr>
          <p:spPr>
            <a:xfrm>
              <a:off x="254000" y="2768600"/>
              <a:ext cx="1104900" cy="2413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Array orientation </a:t>
              </a:r>
              <a:r>
                <a:rPr lang="el-GR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θ</a:t>
              </a:r>
              <a:endParaRPr lang="zh-CN" altLang="en-US" sz="7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cap_c">
              <a:extLst>
                <a:ext uri="{FF2B5EF4-FFF2-40B4-BE49-F238E27FC236}">
                  <a16:creationId xmlns:a16="http://schemas.microsoft.com/office/drawing/2014/main" id="{E070DDE0-9865-B6D5-AAD1-4857C10C640D}"/>
                </a:ext>
              </a:extLst>
            </p:cNvPr>
            <p:cNvSpPr txBox="1"/>
            <p:nvPr/>
          </p:nvSpPr>
          <p:spPr>
            <a:xfrm>
              <a:off x="165100" y="3911600"/>
              <a:ext cx="1193800" cy="482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Exposure is purely geometric: E ∝ sin²(θ − φ)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82" name="c_arrow_phi">
              <a:extLst>
                <a:ext uri="{FF2B5EF4-FFF2-40B4-BE49-F238E27FC236}">
                  <a16:creationId xmlns:a16="http://schemas.microsoft.com/office/drawing/2014/main" id="{76B8BA78-0A5D-D65E-89A1-162C7CB1487C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>
            <a:xfrm flipV="1">
              <a:off x="584200" y="3022600"/>
              <a:ext cx="0" cy="139700"/>
            </a:xfrm>
            <a:prstGeom prst="line">
              <a:avLst/>
            </a:prstGeom>
            <a:ln w="20320">
              <a:solidFill>
                <a:srgbClr val="E69F00"/>
              </a:solidFill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c_label_phi">
              <a:extLst>
                <a:ext uri="{FF2B5EF4-FFF2-40B4-BE49-F238E27FC236}">
                  <a16:creationId xmlns:a16="http://schemas.microsoft.com/office/drawing/2014/main" id="{FF72BDD6-988C-D09E-8EA3-A34AE692C6BA}"/>
                </a:ext>
              </a:extLst>
            </p:cNvPr>
            <p:cNvSpPr txBox="1"/>
            <p:nvPr/>
          </p:nvSpPr>
          <p:spPr>
            <a:xfrm>
              <a:off x="622300" y="3009900"/>
              <a:ext cx="101600" cy="1016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l-GR" altLang="zh-CN" sz="600" i="1">
                  <a:solidFill>
                    <a:srgbClr val="B8791A"/>
                  </a:solidFill>
                  <a:latin typeface="Arial" panose="020B0604020202020204" pitchFamily="34" charset="0"/>
                </a:rPr>
                <a:t>φ</a:t>
              </a:r>
              <a:endParaRPr lang="zh-CN" altLang="en-US" sz="600" i="1">
                <a:solidFill>
                  <a:srgbClr val="B8791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c_farm_parallel">
              <a:extLst>
                <a:ext uri="{FF2B5EF4-FFF2-40B4-BE49-F238E27FC236}">
                  <a16:creationId xmlns:a16="http://schemas.microsoft.com/office/drawing/2014/main" id="{1DF356B8-2D56-535A-9F8A-BD64BF62302E}"/>
                </a:ext>
              </a:extLst>
            </p:cNvPr>
            <p:cNvSpPr/>
            <p:nvPr/>
          </p:nvSpPr>
          <p:spPr>
            <a:xfrm>
              <a:off x="165100" y="3187700"/>
              <a:ext cx="355600" cy="355600"/>
            </a:xfrm>
            <a:prstGeom prst="rect">
              <a:avLst/>
            </a:prstGeom>
            <a:solidFill>
              <a:srgbClr val="F5F3EA"/>
            </a:solidFill>
            <a:ln w="6350">
              <a:solidFill>
                <a:srgbClr val="8A8A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c_farm_perp">
              <a:extLst>
                <a:ext uri="{FF2B5EF4-FFF2-40B4-BE49-F238E27FC236}">
                  <a16:creationId xmlns:a16="http://schemas.microsoft.com/office/drawing/2014/main" id="{D53234EE-3E75-B193-A66C-292ED8D99D38}"/>
                </a:ext>
              </a:extLst>
            </p:cNvPr>
            <p:cNvSpPr/>
            <p:nvPr/>
          </p:nvSpPr>
          <p:spPr>
            <a:xfrm>
              <a:off x="647700" y="3187700"/>
              <a:ext cx="355600" cy="355600"/>
            </a:xfrm>
            <a:prstGeom prst="rect">
              <a:avLst/>
            </a:prstGeom>
            <a:solidFill>
              <a:srgbClr val="F5F3EA"/>
            </a:solidFill>
            <a:ln w="6350">
              <a:solidFill>
                <a:srgbClr val="8A8A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c_par_t1">
              <a:extLst>
                <a:ext uri="{FF2B5EF4-FFF2-40B4-BE49-F238E27FC236}">
                  <a16:creationId xmlns:a16="http://schemas.microsoft.com/office/drawing/2014/main" id="{E332038E-D29B-DCDF-550B-8512862D5E9D}"/>
                </a:ext>
              </a:extLst>
            </p:cNvPr>
            <p:cNvSpPr/>
            <p:nvPr/>
          </p:nvSpPr>
          <p:spPr>
            <a:xfrm>
              <a:off x="252730" y="32372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c_par_t2">
              <a:extLst>
                <a:ext uri="{FF2B5EF4-FFF2-40B4-BE49-F238E27FC236}">
                  <a16:creationId xmlns:a16="http://schemas.microsoft.com/office/drawing/2014/main" id="{7C075246-0D73-ED8C-A77F-8EBFAED41606}"/>
                </a:ext>
              </a:extLst>
            </p:cNvPr>
            <p:cNvSpPr/>
            <p:nvPr/>
          </p:nvSpPr>
          <p:spPr>
            <a:xfrm>
              <a:off x="252730" y="33261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c_par_t3">
              <a:extLst>
                <a:ext uri="{FF2B5EF4-FFF2-40B4-BE49-F238E27FC236}">
                  <a16:creationId xmlns:a16="http://schemas.microsoft.com/office/drawing/2014/main" id="{BCCF6057-0219-7E9F-EAF0-FE407AFB9199}"/>
                </a:ext>
              </a:extLst>
            </p:cNvPr>
            <p:cNvSpPr/>
            <p:nvPr/>
          </p:nvSpPr>
          <p:spPr>
            <a:xfrm>
              <a:off x="252730" y="34150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c_par_t4">
              <a:extLst>
                <a:ext uri="{FF2B5EF4-FFF2-40B4-BE49-F238E27FC236}">
                  <a16:creationId xmlns:a16="http://schemas.microsoft.com/office/drawing/2014/main" id="{E675E85D-EE28-D879-0CC4-D2A967DCAE03}"/>
                </a:ext>
              </a:extLst>
            </p:cNvPr>
            <p:cNvSpPr/>
            <p:nvPr/>
          </p:nvSpPr>
          <p:spPr>
            <a:xfrm>
              <a:off x="252730" y="35039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c_par_t5">
              <a:extLst>
                <a:ext uri="{FF2B5EF4-FFF2-40B4-BE49-F238E27FC236}">
                  <a16:creationId xmlns:a16="http://schemas.microsoft.com/office/drawing/2014/main" id="{11AEB347-012F-F89E-EE3F-BA1BB953C6A8}"/>
                </a:ext>
              </a:extLst>
            </p:cNvPr>
            <p:cNvSpPr/>
            <p:nvPr/>
          </p:nvSpPr>
          <p:spPr>
            <a:xfrm>
              <a:off x="405130" y="32372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c_par_t6">
              <a:extLst>
                <a:ext uri="{FF2B5EF4-FFF2-40B4-BE49-F238E27FC236}">
                  <a16:creationId xmlns:a16="http://schemas.microsoft.com/office/drawing/2014/main" id="{42F4A296-6C1F-0DB1-8F09-784B23C98413}"/>
                </a:ext>
              </a:extLst>
            </p:cNvPr>
            <p:cNvSpPr/>
            <p:nvPr/>
          </p:nvSpPr>
          <p:spPr>
            <a:xfrm>
              <a:off x="405130" y="33261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c_par_t7">
              <a:extLst>
                <a:ext uri="{FF2B5EF4-FFF2-40B4-BE49-F238E27FC236}">
                  <a16:creationId xmlns:a16="http://schemas.microsoft.com/office/drawing/2014/main" id="{F5215419-FE9B-3363-0E1A-719564AF190B}"/>
                </a:ext>
              </a:extLst>
            </p:cNvPr>
            <p:cNvSpPr/>
            <p:nvPr/>
          </p:nvSpPr>
          <p:spPr>
            <a:xfrm>
              <a:off x="405130" y="34150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c_par_t8">
              <a:extLst>
                <a:ext uri="{FF2B5EF4-FFF2-40B4-BE49-F238E27FC236}">
                  <a16:creationId xmlns:a16="http://schemas.microsoft.com/office/drawing/2014/main" id="{BCEBE119-67F5-0107-B6D7-F83F86266792}"/>
                </a:ext>
              </a:extLst>
            </p:cNvPr>
            <p:cNvSpPr/>
            <p:nvPr/>
          </p:nvSpPr>
          <p:spPr>
            <a:xfrm>
              <a:off x="405130" y="35039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c_perp_t1">
              <a:extLst>
                <a:ext uri="{FF2B5EF4-FFF2-40B4-BE49-F238E27FC236}">
                  <a16:creationId xmlns:a16="http://schemas.microsoft.com/office/drawing/2014/main" id="{49EA2846-560F-082D-C036-90913B40C9B8}"/>
                </a:ext>
              </a:extLst>
            </p:cNvPr>
            <p:cNvSpPr/>
            <p:nvPr/>
          </p:nvSpPr>
          <p:spPr>
            <a:xfrm>
              <a:off x="697230" y="32753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c_perp_t2">
              <a:extLst>
                <a:ext uri="{FF2B5EF4-FFF2-40B4-BE49-F238E27FC236}">
                  <a16:creationId xmlns:a16="http://schemas.microsoft.com/office/drawing/2014/main" id="{DBEAC6A1-7F90-19F8-567E-F59D616030E0}"/>
                </a:ext>
              </a:extLst>
            </p:cNvPr>
            <p:cNvSpPr/>
            <p:nvPr/>
          </p:nvSpPr>
          <p:spPr>
            <a:xfrm>
              <a:off x="786130" y="32753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c_perp_t3">
              <a:extLst>
                <a:ext uri="{FF2B5EF4-FFF2-40B4-BE49-F238E27FC236}">
                  <a16:creationId xmlns:a16="http://schemas.microsoft.com/office/drawing/2014/main" id="{5350208A-3AF7-51B1-B119-1B75DE8DE03A}"/>
                </a:ext>
              </a:extLst>
            </p:cNvPr>
            <p:cNvSpPr/>
            <p:nvPr/>
          </p:nvSpPr>
          <p:spPr>
            <a:xfrm>
              <a:off x="875030" y="32753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c_perp_t4">
              <a:extLst>
                <a:ext uri="{FF2B5EF4-FFF2-40B4-BE49-F238E27FC236}">
                  <a16:creationId xmlns:a16="http://schemas.microsoft.com/office/drawing/2014/main" id="{1DEC7DBE-7D41-CF01-D370-23CC1C410D4E}"/>
                </a:ext>
              </a:extLst>
            </p:cNvPr>
            <p:cNvSpPr/>
            <p:nvPr/>
          </p:nvSpPr>
          <p:spPr>
            <a:xfrm>
              <a:off x="951230" y="32753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c_perp_t5">
              <a:extLst>
                <a:ext uri="{FF2B5EF4-FFF2-40B4-BE49-F238E27FC236}">
                  <a16:creationId xmlns:a16="http://schemas.microsoft.com/office/drawing/2014/main" id="{190CC46C-1261-2441-4548-13B097EAFE8B}"/>
                </a:ext>
              </a:extLst>
            </p:cNvPr>
            <p:cNvSpPr/>
            <p:nvPr/>
          </p:nvSpPr>
          <p:spPr>
            <a:xfrm>
              <a:off x="697230" y="34277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c_perp_t6">
              <a:extLst>
                <a:ext uri="{FF2B5EF4-FFF2-40B4-BE49-F238E27FC236}">
                  <a16:creationId xmlns:a16="http://schemas.microsoft.com/office/drawing/2014/main" id="{F2CB55CB-333B-74FB-4E08-36114D913BD9}"/>
                </a:ext>
              </a:extLst>
            </p:cNvPr>
            <p:cNvSpPr/>
            <p:nvPr/>
          </p:nvSpPr>
          <p:spPr>
            <a:xfrm>
              <a:off x="786130" y="34277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c_perp_t7">
              <a:extLst>
                <a:ext uri="{FF2B5EF4-FFF2-40B4-BE49-F238E27FC236}">
                  <a16:creationId xmlns:a16="http://schemas.microsoft.com/office/drawing/2014/main" id="{8DB6EEDD-3256-C966-C6E1-38326F5ABC24}"/>
                </a:ext>
              </a:extLst>
            </p:cNvPr>
            <p:cNvSpPr/>
            <p:nvPr/>
          </p:nvSpPr>
          <p:spPr>
            <a:xfrm>
              <a:off x="875030" y="34277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c_perp_t8">
              <a:extLst>
                <a:ext uri="{FF2B5EF4-FFF2-40B4-BE49-F238E27FC236}">
                  <a16:creationId xmlns:a16="http://schemas.microsoft.com/office/drawing/2014/main" id="{B57577BF-F8D8-761A-791E-E446FA404B02}"/>
                </a:ext>
              </a:extLst>
            </p:cNvPr>
            <p:cNvSpPr/>
            <p:nvPr/>
          </p:nvSpPr>
          <p:spPr>
            <a:xfrm>
              <a:off x="951230" y="3427730"/>
              <a:ext cx="27940" cy="27940"/>
            </a:xfrm>
            <a:prstGeom prst="ellipse">
              <a:avLst/>
            </a:prstGeom>
            <a:solidFill>
              <a:srgbClr val="44444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c_lab_par1">
              <a:extLst>
                <a:ext uri="{FF2B5EF4-FFF2-40B4-BE49-F238E27FC236}">
                  <a16:creationId xmlns:a16="http://schemas.microsoft.com/office/drawing/2014/main" id="{1715960C-E5ED-2A05-9BFD-9000F94A6A04}"/>
                </a:ext>
              </a:extLst>
            </p:cNvPr>
            <p:cNvSpPr txBox="1"/>
            <p:nvPr/>
          </p:nvSpPr>
          <p:spPr>
            <a:xfrm>
              <a:off x="139700" y="3556000"/>
              <a:ext cx="4064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l-GR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θ ∥ φ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c_lab_par2">
              <a:extLst>
                <a:ext uri="{FF2B5EF4-FFF2-40B4-BE49-F238E27FC236}">
                  <a16:creationId xmlns:a16="http://schemas.microsoft.com/office/drawing/2014/main" id="{A57EF287-6A19-56D3-6F67-40ED723E4E95}"/>
                </a:ext>
              </a:extLst>
            </p:cNvPr>
            <p:cNvSpPr txBox="1"/>
            <p:nvPr/>
          </p:nvSpPr>
          <p:spPr>
            <a:xfrm>
              <a:off x="101600" y="3651250"/>
              <a:ext cx="4826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 b="1">
                  <a:solidFill>
                    <a:srgbClr val="1E8449"/>
                  </a:solidFill>
                  <a:latin typeface="Arial" panose="020B0604020202020204" pitchFamily="34" charset="0"/>
                </a:rPr>
                <a:t>low exposure</a:t>
              </a:r>
              <a:endParaRPr lang="zh-CN" altLang="en-US" sz="600" b="1">
                <a:solidFill>
                  <a:srgbClr val="1E844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c_lab_perp1">
              <a:extLst>
                <a:ext uri="{FF2B5EF4-FFF2-40B4-BE49-F238E27FC236}">
                  <a16:creationId xmlns:a16="http://schemas.microsoft.com/office/drawing/2014/main" id="{985F4E81-6DA0-2DA2-B5BB-ABDF06E3346C}"/>
                </a:ext>
              </a:extLst>
            </p:cNvPr>
            <p:cNvSpPr txBox="1"/>
            <p:nvPr/>
          </p:nvSpPr>
          <p:spPr>
            <a:xfrm>
              <a:off x="622299" y="3556000"/>
              <a:ext cx="4064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l-GR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θ ⊥ φ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" name="c_lab_perp2">
              <a:extLst>
                <a:ext uri="{FF2B5EF4-FFF2-40B4-BE49-F238E27FC236}">
                  <a16:creationId xmlns:a16="http://schemas.microsoft.com/office/drawing/2014/main" id="{1FF058AA-E062-8E3E-C714-E6D1A6E8A705}"/>
                </a:ext>
              </a:extLst>
            </p:cNvPr>
            <p:cNvSpPr txBox="1"/>
            <p:nvPr/>
          </p:nvSpPr>
          <p:spPr>
            <a:xfrm>
              <a:off x="584200" y="3651250"/>
              <a:ext cx="4826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 b="1">
                  <a:solidFill>
                    <a:srgbClr val="B03A2E"/>
                  </a:solidFill>
                  <a:latin typeface="Arial" panose="020B0604020202020204" pitchFamily="34" charset="0"/>
                </a:rPr>
                <a:t>high exposure</a:t>
              </a:r>
              <a:endParaRPr lang="zh-CN" altLang="en-US" sz="600" b="1">
                <a:solidFill>
                  <a:srgbClr val="B03A2E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2" name="panel_d_misalignment">
            <a:extLst>
              <a:ext uri="{FF2B5EF4-FFF2-40B4-BE49-F238E27FC236}">
                <a16:creationId xmlns:a16="http://schemas.microsoft.com/office/drawing/2014/main" id="{0CD5D3DB-EB72-525B-BEB3-F5FD3E3016EE}"/>
              </a:ext>
            </a:extLst>
          </p:cNvPr>
          <p:cNvGrpSpPr/>
          <p:nvPr/>
        </p:nvGrpSpPr>
        <p:grpSpPr>
          <a:xfrm>
            <a:off x="1574800" y="4318000"/>
            <a:ext cx="1397000" cy="1524000"/>
            <a:chOff x="1574800" y="4318000"/>
            <a:chExt cx="1397000" cy="1524000"/>
          </a:xfrm>
        </p:grpSpPr>
        <p:sp>
          <p:nvSpPr>
            <p:cNvPr id="51" name="card_d">
              <a:extLst>
                <a:ext uri="{FF2B5EF4-FFF2-40B4-BE49-F238E27FC236}">
                  <a16:creationId xmlns:a16="http://schemas.microsoft.com/office/drawing/2014/main" id="{EC0CDCC2-F874-E959-68CA-CC46C0CAF4F5}"/>
                </a:ext>
              </a:extLst>
            </p:cNvPr>
            <p:cNvSpPr/>
            <p:nvPr/>
          </p:nvSpPr>
          <p:spPr>
            <a:xfrm>
              <a:off x="1574800" y="4318000"/>
              <a:ext cx="1397000" cy="15240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accent_d">
              <a:extLst>
                <a:ext uri="{FF2B5EF4-FFF2-40B4-BE49-F238E27FC236}">
                  <a16:creationId xmlns:a16="http://schemas.microsoft.com/office/drawing/2014/main" id="{7366F590-9E91-3B30-33D0-6B03DA23634B}"/>
                </a:ext>
              </a:extLst>
            </p:cNvPr>
            <p:cNvSpPr/>
            <p:nvPr/>
          </p:nvSpPr>
          <p:spPr>
            <a:xfrm>
              <a:off x="1574800" y="4318000"/>
              <a:ext cx="1397000" cy="33020"/>
            </a:xfrm>
            <a:prstGeom prst="rect">
              <a:avLst/>
            </a:prstGeom>
            <a:solidFill>
              <a:srgbClr val="D55E0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badge_d">
              <a:extLst>
                <a:ext uri="{FF2B5EF4-FFF2-40B4-BE49-F238E27FC236}">
                  <a16:creationId xmlns:a16="http://schemas.microsoft.com/office/drawing/2014/main" id="{C4ADB49E-90AA-47DD-F86F-225570C27E31}"/>
                </a:ext>
              </a:extLst>
            </p:cNvPr>
            <p:cNvSpPr txBox="1"/>
            <p:nvPr/>
          </p:nvSpPr>
          <p:spPr>
            <a:xfrm>
              <a:off x="1612900" y="4368800"/>
              <a:ext cx="24718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d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title_d">
              <a:extLst>
                <a:ext uri="{FF2B5EF4-FFF2-40B4-BE49-F238E27FC236}">
                  <a16:creationId xmlns:a16="http://schemas.microsoft.com/office/drawing/2014/main" id="{B074827B-88FD-B4A9-B254-2F3FF1187497}"/>
                </a:ext>
              </a:extLst>
            </p:cNvPr>
            <p:cNvSpPr txBox="1"/>
            <p:nvPr/>
          </p:nvSpPr>
          <p:spPr>
            <a:xfrm>
              <a:off x="1727200" y="4368800"/>
              <a:ext cx="1181100" cy="2413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Energy vs ecological optimum</a:t>
              </a:r>
              <a:endParaRPr lang="zh-CN" altLang="en-US" sz="7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cap_d">
              <a:extLst>
                <a:ext uri="{FF2B5EF4-FFF2-40B4-BE49-F238E27FC236}">
                  <a16:creationId xmlns:a16="http://schemas.microsoft.com/office/drawing/2014/main" id="{505091A4-5B08-C087-CBF6-D68C448140E5}"/>
                </a:ext>
              </a:extLst>
            </p:cNvPr>
            <p:cNvSpPr txBox="1"/>
            <p:nvPr/>
          </p:nvSpPr>
          <p:spPr>
            <a:xfrm>
              <a:off x="1638300" y="5384800"/>
              <a:ext cx="1270000" cy="4318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Median misalignment 48 / 40 / 45 deg; bars = IQR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" name="d_iqr_onshore">
              <a:extLst>
                <a:ext uri="{FF2B5EF4-FFF2-40B4-BE49-F238E27FC236}">
                  <a16:creationId xmlns:a16="http://schemas.microsoft.com/office/drawing/2014/main" id="{9F1EC77F-E86D-0009-F40B-CF52A0BFB75C}"/>
                </a:ext>
              </a:extLst>
            </p:cNvPr>
            <p:cNvSpPr/>
            <p:nvPr/>
          </p:nvSpPr>
          <p:spPr>
            <a:xfrm>
              <a:off x="1930146" y="4787900"/>
              <a:ext cx="271145" cy="57150"/>
            </a:xfrm>
            <a:prstGeom prst="rect">
              <a:avLst/>
            </a:prstGeom>
            <a:solidFill>
              <a:srgbClr val="0072B2">
                <a:alpha val="7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d_iqr_vpts">
              <a:extLst>
                <a:ext uri="{FF2B5EF4-FFF2-40B4-BE49-F238E27FC236}">
                  <a16:creationId xmlns:a16="http://schemas.microsoft.com/office/drawing/2014/main" id="{DCFAF34A-C707-1B1A-1B6D-FE1ED12179DB}"/>
                </a:ext>
              </a:extLst>
            </p:cNvPr>
            <p:cNvSpPr/>
            <p:nvPr/>
          </p:nvSpPr>
          <p:spPr>
            <a:xfrm>
              <a:off x="1851406" y="4895850"/>
              <a:ext cx="262509" cy="57150"/>
            </a:xfrm>
            <a:prstGeom prst="rect">
              <a:avLst/>
            </a:prstGeom>
            <a:solidFill>
              <a:srgbClr val="009E73">
                <a:alpha val="7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d_iqr_bauer">
              <a:extLst>
                <a:ext uri="{FF2B5EF4-FFF2-40B4-BE49-F238E27FC236}">
                  <a16:creationId xmlns:a16="http://schemas.microsoft.com/office/drawing/2014/main" id="{E3E3D0E3-AC47-2496-D015-F9A2EE8CF78A}"/>
                </a:ext>
              </a:extLst>
            </p:cNvPr>
            <p:cNvSpPr/>
            <p:nvPr/>
          </p:nvSpPr>
          <p:spPr>
            <a:xfrm>
              <a:off x="1938909" y="5003800"/>
              <a:ext cx="328041" cy="57150"/>
            </a:xfrm>
            <a:prstGeom prst="rect">
              <a:avLst/>
            </a:prstGeom>
            <a:solidFill>
              <a:srgbClr val="CC79A7">
                <a:alpha val="7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" name="d_med_onshore">
              <a:extLst>
                <a:ext uri="{FF2B5EF4-FFF2-40B4-BE49-F238E27FC236}">
                  <a16:creationId xmlns:a16="http://schemas.microsoft.com/office/drawing/2014/main" id="{47038B18-533E-D134-D42A-369404578647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96389" y="4775200"/>
              <a:ext cx="0" cy="82550"/>
            </a:xfrm>
            <a:prstGeom prst="line">
              <a:avLst/>
            </a:prstGeom>
            <a:ln w="20320">
              <a:solidFill>
                <a:srgbClr val="0072B2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_med_vpts">
              <a:extLst>
                <a:ext uri="{FF2B5EF4-FFF2-40B4-BE49-F238E27FC236}">
                  <a16:creationId xmlns:a16="http://schemas.microsoft.com/office/drawing/2014/main" id="{7FA4BE5B-6206-4B27-7329-C8FD7A2D0A27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2026412" y="4883150"/>
              <a:ext cx="0" cy="82550"/>
            </a:xfrm>
            <a:prstGeom prst="line">
              <a:avLst/>
            </a:prstGeom>
            <a:ln w="20320">
              <a:solidFill>
                <a:srgbClr val="009E73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_med_bauer">
              <a:extLst>
                <a:ext uri="{FF2B5EF4-FFF2-40B4-BE49-F238E27FC236}">
                  <a16:creationId xmlns:a16="http://schemas.microsoft.com/office/drawing/2014/main" id="{483BCC23-DB59-6295-FC2B-0B48A96083F8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2070100" y="4991100"/>
              <a:ext cx="0" cy="82550"/>
            </a:xfrm>
            <a:prstGeom prst="line">
              <a:avLst/>
            </a:prstGeom>
            <a:ln w="20320">
              <a:solidFill>
                <a:srgbClr val="CC79A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d_axis">
              <a:extLst>
                <a:ext uri="{FF2B5EF4-FFF2-40B4-BE49-F238E27FC236}">
                  <a16:creationId xmlns:a16="http://schemas.microsoft.com/office/drawing/2014/main" id="{2A347F9F-2B4C-16B4-FB58-93252895559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1676400" y="5143500"/>
              <a:ext cx="787400" cy="0"/>
            </a:xfrm>
            <a:prstGeom prst="line">
              <a:avLst/>
            </a:prstGeom>
            <a:ln w="889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d_tick_0">
              <a:extLst>
                <a:ext uri="{FF2B5EF4-FFF2-40B4-BE49-F238E27FC236}">
                  <a16:creationId xmlns:a16="http://schemas.microsoft.com/office/drawing/2014/main" id="{5796C85F-D504-943F-4C5B-0D268C876AAB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1676400" y="51435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d_tick_30">
              <a:extLst>
                <a:ext uri="{FF2B5EF4-FFF2-40B4-BE49-F238E27FC236}">
                  <a16:creationId xmlns:a16="http://schemas.microsoft.com/office/drawing/2014/main" id="{5D36DF33-A571-EA3B-570E-4CDA029455D7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>
              <a:off x="1938909" y="51435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d_tick_60">
              <a:extLst>
                <a:ext uri="{FF2B5EF4-FFF2-40B4-BE49-F238E27FC236}">
                  <a16:creationId xmlns:a16="http://schemas.microsoft.com/office/drawing/2014/main" id="{98731D56-50F8-69CA-3280-9B7C04A4C64A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2201291" y="51435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d_tick_90">
              <a:extLst>
                <a:ext uri="{FF2B5EF4-FFF2-40B4-BE49-F238E27FC236}">
                  <a16:creationId xmlns:a16="http://schemas.microsoft.com/office/drawing/2014/main" id="{65CB0D8B-EFC9-FA03-47BB-E8B634694A7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>
              <a:off x="2463800" y="5143500"/>
              <a:ext cx="0" cy="38100"/>
            </a:xfrm>
            <a:prstGeom prst="line">
              <a:avLst/>
            </a:prstGeom>
            <a:ln w="7620">
              <a:solidFill>
                <a:srgbClr val="777777"/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d_ticklab_0">
              <a:extLst>
                <a:ext uri="{FF2B5EF4-FFF2-40B4-BE49-F238E27FC236}">
                  <a16:creationId xmlns:a16="http://schemas.microsoft.com/office/drawing/2014/main" id="{6A91850B-A58D-4BCE-D255-2746558F29EE}"/>
                </a:ext>
              </a:extLst>
            </p:cNvPr>
            <p:cNvSpPr txBox="1"/>
            <p:nvPr/>
          </p:nvSpPr>
          <p:spPr>
            <a:xfrm>
              <a:off x="1574800" y="51879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>
                  <a:solidFill>
                    <a:srgbClr val="444444"/>
                  </a:solidFill>
                  <a:latin typeface="Arial" panose="020B0604020202020204" pitchFamily="34" charset="0"/>
                </a:rPr>
                <a:t>0°</a:t>
              </a:r>
              <a:endParaRPr lang="zh-CN" altLang="en-US" sz="60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8" name="d_ticklab_30">
              <a:extLst>
                <a:ext uri="{FF2B5EF4-FFF2-40B4-BE49-F238E27FC236}">
                  <a16:creationId xmlns:a16="http://schemas.microsoft.com/office/drawing/2014/main" id="{2C0BF0AE-04BB-3DA0-CC45-AFF1C3D74AEB}"/>
                </a:ext>
              </a:extLst>
            </p:cNvPr>
            <p:cNvSpPr txBox="1"/>
            <p:nvPr/>
          </p:nvSpPr>
          <p:spPr>
            <a:xfrm>
              <a:off x="1837309" y="51879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>
                  <a:solidFill>
                    <a:srgbClr val="444444"/>
                  </a:solidFill>
                  <a:latin typeface="Arial" panose="020B0604020202020204" pitchFamily="34" charset="0"/>
                </a:rPr>
                <a:t>30°</a:t>
              </a:r>
              <a:endParaRPr lang="zh-CN" altLang="en-US" sz="60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9" name="d_ticklab_60">
              <a:extLst>
                <a:ext uri="{FF2B5EF4-FFF2-40B4-BE49-F238E27FC236}">
                  <a16:creationId xmlns:a16="http://schemas.microsoft.com/office/drawing/2014/main" id="{75770BBD-B212-0D91-E769-2460ECE1068A}"/>
                </a:ext>
              </a:extLst>
            </p:cNvPr>
            <p:cNvSpPr txBox="1"/>
            <p:nvPr/>
          </p:nvSpPr>
          <p:spPr>
            <a:xfrm>
              <a:off x="2099691" y="51879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>
                  <a:solidFill>
                    <a:srgbClr val="444444"/>
                  </a:solidFill>
                  <a:latin typeface="Arial" panose="020B0604020202020204" pitchFamily="34" charset="0"/>
                </a:rPr>
                <a:t>60°</a:t>
              </a:r>
              <a:endParaRPr lang="zh-CN" altLang="en-US" sz="60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0" name="d_ticklab_90">
              <a:extLst>
                <a:ext uri="{FF2B5EF4-FFF2-40B4-BE49-F238E27FC236}">
                  <a16:creationId xmlns:a16="http://schemas.microsoft.com/office/drawing/2014/main" id="{AB509B57-480F-6DDB-5E45-913B1D1C4838}"/>
                </a:ext>
              </a:extLst>
            </p:cNvPr>
            <p:cNvSpPr txBox="1"/>
            <p:nvPr/>
          </p:nvSpPr>
          <p:spPr>
            <a:xfrm>
              <a:off x="2362200" y="5187950"/>
              <a:ext cx="203200" cy="889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>
                  <a:solidFill>
                    <a:srgbClr val="444444"/>
                  </a:solidFill>
                  <a:latin typeface="Arial" panose="020B0604020202020204" pitchFamily="34" charset="0"/>
                </a:rPr>
                <a:t>90°</a:t>
              </a:r>
              <a:endParaRPr lang="zh-CN" altLang="en-US" sz="600">
                <a:solidFill>
                  <a:srgbClr val="444444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" name="d_axis_title">
              <a:extLst>
                <a:ext uri="{FF2B5EF4-FFF2-40B4-BE49-F238E27FC236}">
                  <a16:creationId xmlns:a16="http://schemas.microsoft.com/office/drawing/2014/main" id="{E99F904C-CA8D-2D21-F6D8-9FF2DA01FF91}"/>
                </a:ext>
              </a:extLst>
            </p:cNvPr>
            <p:cNvSpPr txBox="1"/>
            <p:nvPr/>
          </p:nvSpPr>
          <p:spPr>
            <a:xfrm>
              <a:off x="1625600" y="5270500"/>
              <a:ext cx="863600" cy="9525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n-US" altLang="zh-CN" sz="600">
                  <a:solidFill>
                    <a:srgbClr val="555555"/>
                  </a:solidFill>
                  <a:latin typeface="Arial" panose="020B0604020202020204" pitchFamily="34" charset="0"/>
                </a:rPr>
                <a:t>misalignment </a:t>
              </a:r>
              <a:r>
                <a:rPr lang="el-GR" altLang="zh-CN" sz="600">
                  <a:solidFill>
                    <a:srgbClr val="555555"/>
                  </a:solidFill>
                  <a:latin typeface="Arial" panose="020B0604020202020204" pitchFamily="34" charset="0"/>
                </a:rPr>
                <a:t>Δ (°)</a:t>
              </a:r>
              <a:endParaRPr lang="zh-CN" altLang="en-US" sz="600">
                <a:solidFill>
                  <a:srgbClr val="555555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9" name="panel_e_capture">
            <a:extLst>
              <a:ext uri="{FF2B5EF4-FFF2-40B4-BE49-F238E27FC236}">
                <a16:creationId xmlns:a16="http://schemas.microsoft.com/office/drawing/2014/main" id="{075C88A7-9901-DCB4-5ADF-8B16E6B75852}"/>
              </a:ext>
            </a:extLst>
          </p:cNvPr>
          <p:cNvGrpSpPr/>
          <p:nvPr/>
        </p:nvGrpSpPr>
        <p:grpSpPr>
          <a:xfrm>
            <a:off x="3047999" y="4318000"/>
            <a:ext cx="1422400" cy="1524000"/>
            <a:chOff x="3047999" y="4318000"/>
            <a:chExt cx="1422400" cy="1524000"/>
          </a:xfrm>
        </p:grpSpPr>
        <p:sp>
          <p:nvSpPr>
            <p:cNvPr id="52" name="card_e">
              <a:extLst>
                <a:ext uri="{FF2B5EF4-FFF2-40B4-BE49-F238E27FC236}">
                  <a16:creationId xmlns:a16="http://schemas.microsoft.com/office/drawing/2014/main" id="{D55513A2-2E8A-4552-2D52-ADA9E0755BDE}"/>
                </a:ext>
              </a:extLst>
            </p:cNvPr>
            <p:cNvSpPr/>
            <p:nvPr/>
          </p:nvSpPr>
          <p:spPr>
            <a:xfrm>
              <a:off x="3047999" y="4318000"/>
              <a:ext cx="1422400" cy="15240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accent_e">
              <a:extLst>
                <a:ext uri="{FF2B5EF4-FFF2-40B4-BE49-F238E27FC236}">
                  <a16:creationId xmlns:a16="http://schemas.microsoft.com/office/drawing/2014/main" id="{A43A2FDB-DB31-8D0D-58FF-AAB87F6CBF8B}"/>
                </a:ext>
              </a:extLst>
            </p:cNvPr>
            <p:cNvSpPr/>
            <p:nvPr/>
          </p:nvSpPr>
          <p:spPr>
            <a:xfrm>
              <a:off x="3047999" y="4318000"/>
              <a:ext cx="1422400" cy="33020"/>
            </a:xfrm>
            <a:prstGeom prst="rect">
              <a:avLst/>
            </a:prstGeom>
            <a:solidFill>
              <a:srgbClr val="0072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badge_e">
              <a:extLst>
                <a:ext uri="{FF2B5EF4-FFF2-40B4-BE49-F238E27FC236}">
                  <a16:creationId xmlns:a16="http://schemas.microsoft.com/office/drawing/2014/main" id="{90C5E31F-6F93-1C24-152B-7AEB82270025}"/>
                </a:ext>
              </a:extLst>
            </p:cNvPr>
            <p:cNvSpPr txBox="1"/>
            <p:nvPr/>
          </p:nvSpPr>
          <p:spPr>
            <a:xfrm>
              <a:off x="3086100" y="4368800"/>
              <a:ext cx="242374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e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title_e">
              <a:extLst>
                <a:ext uri="{FF2B5EF4-FFF2-40B4-BE49-F238E27FC236}">
                  <a16:creationId xmlns:a16="http://schemas.microsoft.com/office/drawing/2014/main" id="{1F2252AF-1F44-9DD8-C8ED-46697A953237}"/>
                </a:ext>
              </a:extLst>
            </p:cNvPr>
            <p:cNvSpPr txBox="1"/>
            <p:nvPr/>
          </p:nvSpPr>
          <p:spPr>
            <a:xfrm>
              <a:off x="3200400" y="4368800"/>
              <a:ext cx="1206500" cy="2413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A small rotation captures most of the gain</a:t>
              </a:r>
              <a:endParaRPr lang="zh-CN" altLang="en-US" sz="7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cap_e">
              <a:extLst>
                <a:ext uri="{FF2B5EF4-FFF2-40B4-BE49-F238E27FC236}">
                  <a16:creationId xmlns:a16="http://schemas.microsoft.com/office/drawing/2014/main" id="{066DBC89-D6E5-FC29-21CC-D22016ACF9B6}"/>
                </a:ext>
              </a:extLst>
            </p:cNvPr>
            <p:cNvSpPr txBox="1"/>
            <p:nvPr/>
          </p:nvSpPr>
          <p:spPr>
            <a:xfrm>
              <a:off x="3111500" y="5410200"/>
              <a:ext cx="1295400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Δθ₅₀ = 17° onshore; a ≤20° rotation already captures 55% of the avoidable exposure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22" name="chart_e_capture">
              <a:extLst>
                <a:ext uri="{FF2B5EF4-FFF2-40B4-BE49-F238E27FC236}">
                  <a16:creationId xmlns:a16="http://schemas.microsoft.com/office/drawing/2014/main" id="{7270FA2F-C890-A92D-B5DE-3C21A785D51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07241128"/>
                </p:ext>
              </p:extLst>
            </p:nvPr>
          </p:nvGraphicFramePr>
          <p:xfrm>
            <a:off x="3086100" y="4622800"/>
            <a:ext cx="1346200" cy="7366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1"/>
            </a:graphicData>
          </a:graphic>
        </p:graphicFrame>
        <p:cxnSp>
          <p:nvCxnSpPr>
            <p:cNvPr id="124" name="e_rule_20deg">
              <a:extLst>
                <a:ext uri="{FF2B5EF4-FFF2-40B4-BE49-F238E27FC236}">
                  <a16:creationId xmlns:a16="http://schemas.microsoft.com/office/drawing/2014/main" id="{C18EA0C8-32F9-0A16-5AF1-AF46D785186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3884041" y="4730750"/>
              <a:ext cx="0" cy="363220"/>
            </a:xfrm>
            <a:prstGeom prst="line">
              <a:avLst/>
            </a:prstGeom>
            <a:ln w="10160">
              <a:solidFill>
                <a:srgbClr val="D55E00"/>
              </a:solidFill>
              <a:prstDash val="dash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e_rule_label">
              <a:extLst>
                <a:ext uri="{FF2B5EF4-FFF2-40B4-BE49-F238E27FC236}">
                  <a16:creationId xmlns:a16="http://schemas.microsoft.com/office/drawing/2014/main" id="{F502A4AB-655F-E125-16E9-F95127D214E4}"/>
                </a:ext>
              </a:extLst>
            </p:cNvPr>
            <p:cNvSpPr txBox="1"/>
            <p:nvPr/>
          </p:nvSpPr>
          <p:spPr>
            <a:xfrm>
              <a:off x="3901440" y="4734560"/>
              <a:ext cx="279400" cy="1143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zh-CN" altLang="en-US" sz="600" b="1">
                  <a:solidFill>
                    <a:srgbClr val="D55E00"/>
                  </a:solidFill>
                  <a:latin typeface="Arial" panose="020B0604020202020204" pitchFamily="34" charset="0"/>
                </a:rPr>
                <a:t>≤</a:t>
              </a:r>
              <a:r>
                <a:rPr lang="en-US" altLang="zh-CN" sz="600" b="1">
                  <a:solidFill>
                    <a:srgbClr val="D55E00"/>
                  </a:solidFill>
                  <a:latin typeface="Arial" panose="020B0604020202020204" pitchFamily="34" charset="0"/>
                </a:rPr>
                <a:t>20°</a:t>
              </a:r>
              <a:endParaRPr lang="zh-CN" altLang="en-US" sz="600" b="1">
                <a:solidFill>
                  <a:srgbClr val="D55E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0" name="panel_f_budget">
            <a:extLst>
              <a:ext uri="{FF2B5EF4-FFF2-40B4-BE49-F238E27FC236}">
                <a16:creationId xmlns:a16="http://schemas.microsoft.com/office/drawing/2014/main" id="{565D8CB1-1C9E-C829-15F1-8A15F03FB087}"/>
              </a:ext>
            </a:extLst>
          </p:cNvPr>
          <p:cNvGrpSpPr/>
          <p:nvPr/>
        </p:nvGrpSpPr>
        <p:grpSpPr>
          <a:xfrm>
            <a:off x="5079999" y="3048000"/>
            <a:ext cx="1320800" cy="1600200"/>
            <a:chOff x="5079999" y="3048000"/>
            <a:chExt cx="1320800" cy="1600200"/>
          </a:xfrm>
        </p:grpSpPr>
        <p:sp>
          <p:nvSpPr>
            <p:cNvPr id="53" name="card_f">
              <a:extLst>
                <a:ext uri="{FF2B5EF4-FFF2-40B4-BE49-F238E27FC236}">
                  <a16:creationId xmlns:a16="http://schemas.microsoft.com/office/drawing/2014/main" id="{88AA74E9-B165-C4BD-62AF-DA86DE14B713}"/>
                </a:ext>
              </a:extLst>
            </p:cNvPr>
            <p:cNvSpPr/>
            <p:nvPr/>
          </p:nvSpPr>
          <p:spPr>
            <a:xfrm>
              <a:off x="5079999" y="3048000"/>
              <a:ext cx="1320800" cy="16002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9C9C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accent_f">
              <a:extLst>
                <a:ext uri="{FF2B5EF4-FFF2-40B4-BE49-F238E27FC236}">
                  <a16:creationId xmlns:a16="http://schemas.microsoft.com/office/drawing/2014/main" id="{F3196BE2-84FF-1866-EA79-0DABE81EA233}"/>
                </a:ext>
              </a:extLst>
            </p:cNvPr>
            <p:cNvSpPr/>
            <p:nvPr/>
          </p:nvSpPr>
          <p:spPr>
            <a:xfrm>
              <a:off x="5079999" y="3048000"/>
              <a:ext cx="1320800" cy="33020"/>
            </a:xfrm>
            <a:prstGeom prst="rect">
              <a:avLst/>
            </a:prstGeom>
            <a:solidFill>
              <a:srgbClr val="009E7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badge_f">
              <a:extLst>
                <a:ext uri="{FF2B5EF4-FFF2-40B4-BE49-F238E27FC236}">
                  <a16:creationId xmlns:a16="http://schemas.microsoft.com/office/drawing/2014/main" id="{80CEF1B7-3267-DBAC-82ED-192CA04052AC}"/>
                </a:ext>
              </a:extLst>
            </p:cNvPr>
            <p:cNvSpPr txBox="1"/>
            <p:nvPr/>
          </p:nvSpPr>
          <p:spPr>
            <a:xfrm>
              <a:off x="5118100" y="3098800"/>
              <a:ext cx="218330" cy="139700"/>
            </a:xfrm>
            <a:prstGeom prst="rect">
              <a:avLst/>
            </a:prstGeom>
            <a:noFill/>
          </p:spPr>
          <p:txBody>
            <a:bodyPr vert="horz" wrap="none" lIns="0" tIns="0" rIns="0" bIns="0" rtlCol="0">
              <a:noAutofit/>
            </a:bodyPr>
            <a:lstStyle/>
            <a:p>
              <a:r>
                <a:rPr lang="en-US" altLang="zh-CN" sz="800" b="1">
                  <a:solidFill>
                    <a:srgbClr val="111111"/>
                  </a:solidFill>
                  <a:latin typeface="Arial" panose="020B0604020202020204" pitchFamily="34" charset="0"/>
                </a:rPr>
                <a:t>f</a:t>
              </a:r>
              <a:endParaRPr lang="zh-CN" altLang="en-US" sz="8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title_f">
              <a:extLst>
                <a:ext uri="{FF2B5EF4-FFF2-40B4-BE49-F238E27FC236}">
                  <a16:creationId xmlns:a16="http://schemas.microsoft.com/office/drawing/2014/main" id="{BCA778D1-F956-2CB8-5B3F-43378D94F63B}"/>
                </a:ext>
              </a:extLst>
            </p:cNvPr>
            <p:cNvSpPr txBox="1"/>
            <p:nvPr/>
          </p:nvSpPr>
          <p:spPr>
            <a:xfrm>
              <a:off x="5232400" y="3098800"/>
              <a:ext cx="1104900" cy="2413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700" b="1">
                  <a:solidFill>
                    <a:srgbClr val="111111"/>
                  </a:solidFill>
                  <a:latin typeface="Arial" panose="020B0604020202020204" pitchFamily="34" charset="0"/>
                </a:rPr>
                <a:t>A ≤1% AEP budget buys nearly all of it</a:t>
              </a:r>
              <a:endParaRPr lang="zh-CN" altLang="en-US" sz="7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cap_f">
              <a:extLst>
                <a:ext uri="{FF2B5EF4-FFF2-40B4-BE49-F238E27FC236}">
                  <a16:creationId xmlns:a16="http://schemas.microsoft.com/office/drawing/2014/main" id="{B851F017-AC87-F008-579F-98713D16F0E7}"/>
                </a:ext>
              </a:extLst>
            </p:cNvPr>
            <p:cNvSpPr txBox="1"/>
            <p:nvPr/>
          </p:nvSpPr>
          <p:spPr>
            <a:xfrm>
              <a:off x="5143500" y="4140200"/>
              <a:ext cx="1193800" cy="4572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zh-CN" sz="600">
                  <a:solidFill>
                    <a:srgbClr val="333333"/>
                  </a:solidFill>
                  <a:latin typeface="Arial" panose="020B0604020202020204" pitchFamily="34" charset="0"/>
                </a:rPr>
                <a:t>At a 1% AEP budget the median exposure cut is 97% onshore, 84% VPTS, 48% Bauer</a:t>
              </a:r>
              <a:endParaRPr lang="zh-CN" altLang="en-US" sz="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23" name="chart_f_budget">
              <a:extLst>
                <a:ext uri="{FF2B5EF4-FFF2-40B4-BE49-F238E27FC236}">
                  <a16:creationId xmlns:a16="http://schemas.microsoft.com/office/drawing/2014/main" id="{BF80B9A1-A746-2525-0815-6A8E782963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43389764"/>
                </p:ext>
              </p:extLst>
            </p:nvPr>
          </p:nvGraphicFramePr>
          <p:xfrm>
            <a:off x="5118100" y="3352800"/>
            <a:ext cx="1244600" cy="7366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2"/>
            </a:graphicData>
          </a:graphic>
        </p:graphicFrame>
        <p:sp>
          <p:nvSpPr>
            <p:cNvPr id="126" name="f_rule_1pct">
              <a:extLst>
                <a:ext uri="{FF2B5EF4-FFF2-40B4-BE49-F238E27FC236}">
                  <a16:creationId xmlns:a16="http://schemas.microsoft.com/office/drawing/2014/main" id="{A4ADA29C-3043-9916-991C-4E64A661CF68}"/>
                </a:ext>
              </a:extLst>
            </p:cNvPr>
            <p:cNvSpPr/>
            <p:nvPr/>
          </p:nvSpPr>
          <p:spPr>
            <a:xfrm>
              <a:off x="5744210" y="3470910"/>
              <a:ext cx="218440" cy="3429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0160">
              <a:solidFill>
                <a:srgbClr val="D55E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4" name="flow_arrow_bc">
            <a:extLst>
              <a:ext uri="{FF2B5EF4-FFF2-40B4-BE49-F238E27FC236}">
                <a16:creationId xmlns:a16="http://schemas.microsoft.com/office/drawing/2014/main" id="{C4ABD5CC-0186-A223-13D8-ABC71D510948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584200" y="2584450"/>
            <a:ext cx="0" cy="114300"/>
          </a:xfrm>
          <a:prstGeom prst="line">
            <a:avLst/>
          </a:prstGeom>
          <a:ln w="15240">
            <a:solidFill>
              <a:srgbClr val="7A7A7A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flow_arrow_cd">
            <a:extLst>
              <a:ext uri="{FF2B5EF4-FFF2-40B4-BE49-F238E27FC236}">
                <a16:creationId xmlns:a16="http://schemas.microsoft.com/office/drawing/2014/main" id="{188DDCCD-3179-D7DB-9DE2-114438650CBA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35000" y="4241800"/>
            <a:ext cx="889000" cy="685800"/>
          </a:xfrm>
          <a:prstGeom prst="line">
            <a:avLst/>
          </a:prstGeom>
          <a:ln w="15240">
            <a:solidFill>
              <a:srgbClr val="7A7A7A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flow_arrow_de">
            <a:extLst>
              <a:ext uri="{FF2B5EF4-FFF2-40B4-BE49-F238E27FC236}">
                <a16:creationId xmlns:a16="http://schemas.microsoft.com/office/drawing/2014/main" id="{AF068EC3-692D-998F-E9EC-4869726A49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2590800" y="5067300"/>
            <a:ext cx="431800" cy="0"/>
          </a:xfrm>
          <a:prstGeom prst="line">
            <a:avLst/>
          </a:prstGeom>
          <a:ln w="15240">
            <a:solidFill>
              <a:srgbClr val="7A7A7A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flow_arrow_ef">
            <a:extLst>
              <a:ext uri="{FF2B5EF4-FFF2-40B4-BE49-F238E27FC236}">
                <a16:creationId xmlns:a16="http://schemas.microsoft.com/office/drawing/2014/main" id="{800C499B-F011-A9C6-8467-80713392539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flipV="1">
            <a:off x="4381500" y="4495800"/>
            <a:ext cx="647700" cy="482600"/>
          </a:xfrm>
          <a:prstGeom prst="line">
            <a:avLst/>
          </a:prstGeom>
          <a:ln w="15240">
            <a:solidFill>
              <a:srgbClr val="7A7A7A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923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Continuous cartographic field: Natural Earth land and ocean polygons, coastlines, national borders, a 2,025-cell spring-migration direction quiver field colour-coded by direction concentration (0.84-1.00), and 4,246 wind-farm centroid marks plus 6 radar stations. This vector and point density cannot be faithfully rebuilt as native PowerPoint AutoShapes.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Rendered deliberately with no title, no legend, no colour bar, no axis text and no frame; every one of those reconstructable elements is rebuilt on this slide as a native textbox, AutoShape or line. What remains is one single irreducible geographic field."/>
  <p:tag name="SCIENTIFICILLUSTRATORSOURCEPATH" val="D:\onedrive\01_科研与论文\08_风向建设\global-migratory-bird-windfarm-ecology\figures_v7\fig1_map_base.p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6"/>
  <p:tag name="SCIENTIFICILLUSTRATORBEGINY" val="203.5"/>
  <p:tag name="SCIENTIFICILLUSTRATORENDX" val="46"/>
  <p:tag name="SCIENTIFICILLUSTRATORENDY" val="212.5"/>
  <p:tag name="SCIENTIFICILLUSTRATORSTARTCLEARANCE" val="0"/>
  <p:tag name="SCIENTIFICILLUSTRATORENDCLEARANC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0"/>
  <p:tag name="SCIENTIFICILLUSTRATORBEGINY" val="334"/>
  <p:tag name="SCIENTIFICILLUSTRATORENDX" val="120"/>
  <p:tag name="SCIENTIFICILLUSTRATORENDY" val="388"/>
  <p:tag name="SCIENTIFICILLUSTRATORSTARTCLEARANCE" val="0"/>
  <p:tag name="SCIENTIFICILLUSTRATORENDCLEARANC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04"/>
  <p:tag name="SCIENTIFICILLUSTRATORBEGINY" val="399"/>
  <p:tag name="SCIENTIFICILLUSTRATORENDX" val="238"/>
  <p:tag name="SCIENTIFICILLUSTRATORENDY" val="399"/>
  <p:tag name="SCIENTIFICILLUSTRATORSTARTCLEARANCE" val="0"/>
  <p:tag name="SCIENTIFICILLUSTRATORENDCLEARANC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45"/>
  <p:tag name="SCIENTIFICILLUSTRATORBEGINY" val="392"/>
  <p:tag name="SCIENTIFICILLUSTRATORENDX" val="396"/>
  <p:tag name="SCIENTIFICILLUSTRATORENDY" val="354"/>
  <p:tag name="SCIENTIFICILLUSTRATORSTARTCLEARANCE" val="0"/>
  <p:tag name="SCIENTIFICILLUSTRATORENDCLEARANC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35.05"/>
  <p:tag name="SCIENTIFICILLUSTRATORBEGINY" val="360.57"/>
  <p:tag name="SCIENTIFICILLUSTRATORENDX" val="335.05"/>
  <p:tag name="SCIENTIFICILLUSTRATORENDY" val="392.58"/>
  <p:tag name="SCIENTIFICILLUSTRATORSTARTCLEARANCE" val="0"/>
  <p:tag name="SCIENTIFICILLUSTRATORENDCLEARANC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33.07"/>
  <p:tag name="SCIENTIFICILLUSTRATORBEGINY" val="371"/>
  <p:tag name="SCIENTIFICILLUSTRATORENDX" val="233.07"/>
  <p:tag name="SCIENTIFICILLUSTRATORENDY" val="377.5"/>
  <p:tag name="SCIENTIFICILLUSTRATORSTARTCLEARANCE" val="0"/>
  <p:tag name="SCIENTIFICILLUSTRATORENDCLEARANC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27.56"/>
  <p:tag name="SCIENTIFICILLUSTRATORBEGINY" val="379.5"/>
  <p:tag name="SCIENTIFICILLUSTRATORENDX" val="227.56"/>
  <p:tag name="SCIENTIFICILLUSTRATORENDY" val="386"/>
  <p:tag name="SCIENTIFICILLUSTRATORSTARTCLEARANCE" val="0"/>
  <p:tag name="SCIENTIFICILLUSTRATORENDCLEARANC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31"/>
  <p:tag name="SCIENTIFICILLUSTRATORBEGINY" val="388"/>
  <p:tag name="SCIENTIFICILLUSTRATORENDX" val="231"/>
  <p:tag name="SCIENTIFICILLUSTRATORENDY" val="394.5"/>
  <p:tag name="SCIENTIFICILLUSTRATORSTARTCLEARANCE" val="0"/>
  <p:tag name="SCIENTIFICILLUSTRATORENDCLEARANC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00"/>
  <p:tag name="SCIENTIFICILLUSTRATORBEGINY" val="400"/>
  <p:tag name="SCIENTIFICILLUSTRATORENDX" val="262"/>
  <p:tag name="SCIENTIFICILLUSTRATORENDY" val="400"/>
  <p:tag name="SCIENTIFICILLUSTRATORSTARTCLEARANCE" val="0"/>
  <p:tag name="SCIENTIFICILLUSTRATORENDCLEARANC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00"/>
  <p:tag name="SCIENTIFICILLUSTRATORBEGINY" val="400"/>
  <p:tag name="SCIENTIFICILLUSTRATORENDX" val="200"/>
  <p:tag name="SCIENTIFICILLUSTRATORENDY" val="403"/>
  <p:tag name="SCIENTIFICILLUSTRATORSTARTCLEARANCE" val="0"/>
  <p:tag name="SCIENTIFICILLUSTRATORENDCLEARANC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20.67"/>
  <p:tag name="SCIENTIFICILLUSTRATORBEGINY" val="400"/>
  <p:tag name="SCIENTIFICILLUSTRATORENDX" val="220.67"/>
  <p:tag name="SCIENTIFICILLUSTRATORENDY" val="403"/>
  <p:tag name="SCIENTIFICILLUSTRATORSTARTCLEARANCE" val="0"/>
  <p:tag name="SCIENTIFICILLUSTRATORENDCLEARANCE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41.33"/>
  <p:tag name="SCIENTIFICILLUSTRATORBEGINY" val="400"/>
  <p:tag name="SCIENTIFICILLUSTRATORENDX" val="241.33"/>
  <p:tag name="SCIENTIFICILLUSTRATORENDY" val="403"/>
  <p:tag name="SCIENTIFICILLUSTRATORSTARTCLEARANCE" val="0"/>
  <p:tag name="SCIENTIFICILLUSTRATORENDCLEARANC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62"/>
  <p:tag name="SCIENTIFICILLUSTRATORBEGINY" val="400"/>
  <p:tag name="SCIENTIFICILLUSTRATORENDX" val="262"/>
  <p:tag name="SCIENTIFICILLUSTRATORENDY" val="403"/>
  <p:tag name="SCIENTIFICILLUSTRATORSTARTCLEARANCE" val="0"/>
  <p:tag name="SCIENTIFICILLUSTRATORENDCLEARANCE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41"/>
  <p:tag name="SCIENTIFICILLUSTRATORBEGINY" val="370"/>
  <p:tag name="SCIENTIFICILLUSTRATORENDX" val="141"/>
  <p:tag name="SCIENTIFICILLUSTRATORENDY" val="359"/>
  <p:tag name="SCIENTIFICILLUSTRATORSTARTCLEARANCE" val="0"/>
  <p:tag name="SCIENTIFICILLUSTRATORENDCLEARANC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1.4"/>
  <p:tag name="SCIENTIFICILLUSTRATORBEGINY" val="387.6"/>
  <p:tag name="SCIENTIFICILLUSTRATORENDX" val="56.6"/>
  <p:tag name="SCIENTIFICILLUSTRATORENDY" val="367.9"/>
  <p:tag name="SCIENTIFICILLUSTRATORSTARTCLEARANCE" val="0"/>
  <p:tag name="SCIENTIFICILLUSTRATORENDCLEARANC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9.4"/>
  <p:tag name="SCIENTIFICILLUSTRATORBEGINY" val="397.85"/>
  <p:tag name="SCIENTIFICILLUSTRATORENDX" val="64.6"/>
  <p:tag name="SCIENTIFICILLUSTRATORENDY" val="378.15"/>
  <p:tag name="SCIENTIFICILLUSTRATORSTARTCLEARANCE" val="0"/>
  <p:tag name="SCIENTIFICILLUSTRATORENDCLEARANC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7.4"/>
  <p:tag name="SCIENTIFICILLUSTRATORBEGINY" val="408.1"/>
  <p:tag name="SCIENTIFICILLUSTRATORENDX" val="72.6"/>
  <p:tag name="SCIENTIFICILLUSTRATORENDY" val="388.4"/>
  <p:tag name="SCIENTIFICILLUSTRATORSTARTCLEARANCE" val="0"/>
  <p:tag name="SCIENTIFICILLUSTRATORENDCLEARANCE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219</Words>
  <Application>Microsoft Office PowerPoint</Application>
  <PresentationFormat>自定义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君腾 廖</dc:creator>
  <cp:lastModifiedBy>君腾 廖</cp:lastModifiedBy>
  <cp:revision>5</cp:revision>
  <dcterms:created xsi:type="dcterms:W3CDTF">2026-08-28T09:36:49Z</dcterms:created>
  <dcterms:modified xsi:type="dcterms:W3CDTF">2026-08-29T04:35:44Z</dcterms:modified>
</cp:coreProperties>
</file>